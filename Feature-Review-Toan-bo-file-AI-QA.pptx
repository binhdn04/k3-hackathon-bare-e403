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66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63A"/>
        </a:solidFill>
        <a:effectLst/>
      </p:bgPr>
    </p:bg>
    <p:spTree>
      <p:nvGrpSpPr>
        <p:cNvPr id="1" name=""/>
        <p:cNvGrpSpPr/>
        <p:nvPr/>
      </p:nvGrpSpPr>
      <p:grpSpPr>
        <a:xfrm>
          <a:off x="0" y="0"/>
          <a:ext cx="0" cy="0"/>
          <a:chOff x="0" y="0"/>
          <a:chExt cx="0" cy="0"/>
        </a:xfrm>
      </p:grpSpPr>
      <p:sp>
        <p:nvSpPr>
          <p:cNvPr id="2" name="Shape 0"/>
          <p:cNvSpPr/>
          <p:nvPr/>
        </p:nvSpPr>
        <p:spPr>
          <a:xfrm>
            <a:off x="9966960" y="5120640"/>
            <a:ext cx="2926080" cy="2926080"/>
          </a:xfrm>
          <a:prstGeom prst="ellipse">
            <a:avLst/>
          </a:prstGeom>
          <a:solidFill>
            <a:srgbClr val="02C39A">
              <a:alpha val="10000"/>
            </a:srgbClr>
          </a:solidFill>
          <a:ln/>
        </p:spPr>
        <p:txBody>
          <a:bodyPr/>
          <a:lstStyle/>
          <a:p>
            <a:endParaRPr lang="en-US"/>
          </a:p>
        </p:txBody>
      </p:sp>
      <p:sp>
        <p:nvSpPr>
          <p:cNvPr id="3" name="Shape 1"/>
          <p:cNvSpPr/>
          <p:nvPr/>
        </p:nvSpPr>
        <p:spPr>
          <a:xfrm>
            <a:off x="10789920" y="182880"/>
            <a:ext cx="1828800" cy="1828800"/>
          </a:xfrm>
          <a:prstGeom prst="ellipse">
            <a:avLst/>
          </a:prstGeom>
          <a:solidFill>
            <a:srgbClr val="00A896">
              <a:alpha val="12000"/>
            </a:srgbClr>
          </a:solidFill>
          <a:ln/>
        </p:spPr>
        <p:txBody>
          <a:bodyPr/>
          <a:lstStyle/>
          <a:p>
            <a:endParaRPr lang="en-US"/>
          </a:p>
        </p:txBody>
      </p:sp>
      <p:sp>
        <p:nvSpPr>
          <p:cNvPr id="4" name="Shape 2"/>
          <p:cNvSpPr/>
          <p:nvPr/>
        </p:nvSpPr>
        <p:spPr>
          <a:xfrm>
            <a:off x="457200" y="384048"/>
            <a:ext cx="502920" cy="502920"/>
          </a:xfrm>
          <a:prstGeom prst="ellipse">
            <a:avLst/>
          </a:prstGeom>
          <a:solidFill>
            <a:srgbClr val="02C39A"/>
          </a:solidFill>
          <a:ln/>
        </p:spPr>
        <p:txBody>
          <a:bodyPr/>
          <a:lstStyle/>
          <a:p>
            <a:endParaRPr lang="en-US"/>
          </a:p>
        </p:txBody>
      </p:sp>
      <p:sp>
        <p:nvSpPr>
          <p:cNvPr id="5" name="Text 3"/>
          <p:cNvSpPr/>
          <p:nvPr/>
        </p:nvSpPr>
        <p:spPr>
          <a:xfrm>
            <a:off x="457200" y="384048"/>
            <a:ext cx="502920" cy="502920"/>
          </a:xfrm>
          <a:prstGeom prst="rect">
            <a:avLst/>
          </a:prstGeom>
          <a:noFill/>
          <a:ln/>
        </p:spPr>
        <p:txBody>
          <a:bodyPr wrap="square" lIns="0" tIns="0" rIns="0" bIns="0" rtlCol="0" anchor="ctr"/>
          <a:lstStyle/>
          <a:p>
            <a:pPr marL="0" indent="0" algn="ctr">
              <a:buNone/>
            </a:pPr>
            <a:r>
              <a:rPr lang="en-US" sz="1600" b="1" dirty="0">
                <a:solidFill>
                  <a:srgbClr val="06363A"/>
                </a:solidFill>
                <a:latin typeface="Calibri" pitchFamily="34" charset="0"/>
                <a:ea typeface="Calibri" pitchFamily="34" charset="-122"/>
                <a:cs typeface="Calibri" pitchFamily="34" charset="-120"/>
              </a:rPr>
              <a:t>01</a:t>
            </a:r>
            <a:endParaRPr lang="en-US" sz="1600" dirty="0"/>
          </a:p>
        </p:txBody>
      </p:sp>
      <p:sp>
        <p:nvSpPr>
          <p:cNvPr id="6" name="Text 4"/>
          <p:cNvSpPr/>
          <p:nvPr/>
        </p:nvSpPr>
        <p:spPr>
          <a:xfrm>
            <a:off x="1143000" y="347472"/>
            <a:ext cx="10588752"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User &amp; Job</a:t>
            </a:r>
            <a:endParaRPr lang="en-US" sz="3200" dirty="0"/>
          </a:p>
        </p:txBody>
      </p:sp>
      <p:sp>
        <p:nvSpPr>
          <p:cNvPr id="7" name="Text 5"/>
          <p:cNvSpPr/>
          <p:nvPr/>
        </p:nvSpPr>
        <p:spPr>
          <a:xfrm>
            <a:off x="1143000" y="896112"/>
            <a:ext cx="10588752" cy="320040"/>
          </a:xfrm>
          <a:prstGeom prst="rect">
            <a:avLst/>
          </a:prstGeom>
          <a:noFill/>
          <a:ln/>
        </p:spPr>
        <p:txBody>
          <a:bodyPr wrap="square" lIns="0" tIns="0" rIns="0" bIns="0" rtlCol="0" anchor="ctr"/>
          <a:lstStyle/>
          <a:p>
            <a:pPr marL="0" indent="0">
              <a:buNone/>
            </a:pPr>
            <a:r>
              <a:rPr lang="en-US" sz="1400" i="1" dirty="0">
                <a:solidFill>
                  <a:srgbClr val="02C39A"/>
                </a:solidFill>
                <a:latin typeface="Calibri" pitchFamily="34" charset="0"/>
                <a:ea typeface="Calibri" pitchFamily="34" charset="-122"/>
                <a:cs typeface="Calibri" pitchFamily="34" charset="-120"/>
              </a:rPr>
              <a:t>Một học viên đang học một bộ slide</a:t>
            </a:r>
            <a:endParaRPr lang="en-US" sz="1400" dirty="0"/>
          </a:p>
        </p:txBody>
      </p:sp>
      <p:sp>
        <p:nvSpPr>
          <p:cNvPr id="8" name="Shape 6"/>
          <p:cNvSpPr/>
          <p:nvPr/>
        </p:nvSpPr>
        <p:spPr>
          <a:xfrm>
            <a:off x="457200" y="1600200"/>
            <a:ext cx="5349240" cy="1417320"/>
          </a:xfrm>
          <a:prstGeom prst="roundRect">
            <a:avLst>
              <a:gd name="adj" fmla="val 6452"/>
            </a:avLst>
          </a:prstGeom>
          <a:solidFill>
            <a:srgbClr val="0A4247"/>
          </a:solidFill>
          <a:ln/>
        </p:spPr>
        <p:txBody>
          <a:bodyPr/>
          <a:lstStyle/>
          <a:p>
            <a:endParaRPr lang="en-US"/>
          </a:p>
        </p:txBody>
      </p:sp>
      <p:sp>
        <p:nvSpPr>
          <p:cNvPr id="9" name="Shape 7"/>
          <p:cNvSpPr/>
          <p:nvPr/>
        </p:nvSpPr>
        <p:spPr>
          <a:xfrm>
            <a:off x="731520" y="1874520"/>
            <a:ext cx="502920" cy="502920"/>
          </a:xfrm>
          <a:prstGeom prst="ellipse">
            <a:avLst/>
          </a:prstGeom>
          <a:solidFill>
            <a:srgbClr val="00A896"/>
          </a:solidFill>
          <a:ln/>
        </p:spPr>
        <p:txBody>
          <a:bodyPr/>
          <a:lstStyle/>
          <a:p>
            <a:endParaRPr lang="en-US"/>
          </a:p>
        </p:txBody>
      </p:sp>
      <p:sp>
        <p:nvSpPr>
          <p:cNvPr id="10" name="Text 8"/>
          <p:cNvSpPr/>
          <p:nvPr/>
        </p:nvSpPr>
        <p:spPr>
          <a:xfrm>
            <a:off x="731520" y="18745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HV</a:t>
            </a:r>
            <a:endParaRPr lang="en-US" sz="1300" dirty="0"/>
          </a:p>
        </p:txBody>
      </p:sp>
      <p:sp>
        <p:nvSpPr>
          <p:cNvPr id="11" name="Text 9"/>
          <p:cNvSpPr/>
          <p:nvPr/>
        </p:nvSpPr>
        <p:spPr>
          <a:xfrm>
            <a:off x="731520" y="2423160"/>
            <a:ext cx="4114800" cy="347472"/>
          </a:xfrm>
          <a:prstGeom prst="rect">
            <a:avLst/>
          </a:prstGeom>
          <a:noFill/>
          <a:ln/>
        </p:spPr>
        <p:txBody>
          <a:bodyPr wrap="square" lIns="0" tIns="0" rIns="0" bIns="0"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JOB EXECUTOR</a:t>
            </a:r>
            <a:endParaRPr lang="en-US" sz="1100" dirty="0"/>
          </a:p>
        </p:txBody>
      </p:sp>
      <p:sp>
        <p:nvSpPr>
          <p:cNvPr id="12" name="Text 10"/>
          <p:cNvSpPr/>
          <p:nvPr/>
        </p:nvSpPr>
        <p:spPr>
          <a:xfrm>
            <a:off x="731520" y="2496312"/>
            <a:ext cx="4800600" cy="676656"/>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Học viên đang học hoặc ôn tập một file PDF/slide.</a:t>
            </a:r>
            <a:endParaRPr lang="en-US" sz="1450" dirty="0"/>
          </a:p>
        </p:txBody>
      </p:sp>
      <p:sp>
        <p:nvSpPr>
          <p:cNvPr id="13" name="Shape 11"/>
          <p:cNvSpPr/>
          <p:nvPr/>
        </p:nvSpPr>
        <p:spPr>
          <a:xfrm>
            <a:off x="6035040" y="1600200"/>
            <a:ext cx="5696712" cy="1417320"/>
          </a:xfrm>
          <a:prstGeom prst="roundRect">
            <a:avLst>
              <a:gd name="adj" fmla="val 6452"/>
            </a:avLst>
          </a:prstGeom>
          <a:solidFill>
            <a:srgbClr val="028090"/>
          </a:solidFill>
          <a:ln/>
        </p:spPr>
        <p:txBody>
          <a:bodyPr/>
          <a:lstStyle/>
          <a:p>
            <a:endParaRPr lang="en-US"/>
          </a:p>
        </p:txBody>
      </p:sp>
      <p:sp>
        <p:nvSpPr>
          <p:cNvPr id="14" name="Text 12"/>
          <p:cNvSpPr/>
          <p:nvPr/>
        </p:nvSpPr>
        <p:spPr>
          <a:xfrm>
            <a:off x="6309360" y="1764792"/>
            <a:ext cx="3657600" cy="274320"/>
          </a:xfrm>
          <a:prstGeom prst="rect">
            <a:avLst/>
          </a:prstGeom>
          <a:noFill/>
          <a:ln/>
        </p:spPr>
        <p:txBody>
          <a:bodyPr wrap="square" lIns="0" tIns="0" rIns="0" bIns="0" rtlCol="0" anchor="ctr"/>
          <a:lstStyle/>
          <a:p>
            <a:pPr marL="0" indent="0">
              <a:buNone/>
            </a:pPr>
            <a:r>
              <a:rPr lang="en-US" sz="1100" b="1" kern="0" spc="150" dirty="0">
                <a:solidFill>
                  <a:srgbClr val="FFFFFF"/>
                </a:solidFill>
                <a:latin typeface="Calibri" pitchFamily="34" charset="0"/>
                <a:ea typeface="Calibri" pitchFamily="34" charset="-122"/>
                <a:cs typeface="Calibri" pitchFamily="34" charset="-120"/>
              </a:rPr>
              <a:t>CORE JTBD</a:t>
            </a:r>
            <a:endParaRPr lang="en-US" sz="1100" dirty="0"/>
          </a:p>
        </p:txBody>
      </p:sp>
      <p:sp>
        <p:nvSpPr>
          <p:cNvPr id="15" name="Text 13"/>
          <p:cNvSpPr/>
          <p:nvPr/>
        </p:nvSpPr>
        <p:spPr>
          <a:xfrm>
            <a:off x="6309360" y="2057400"/>
            <a:ext cx="5148072" cy="777240"/>
          </a:xfrm>
          <a:prstGeom prst="rect">
            <a:avLst/>
          </a:prstGeom>
          <a:noFill/>
          <a:ln/>
        </p:spPr>
        <p:txBody>
          <a:bodyPr wrap="square" lIns="0" tIns="0" rIns="0" bIns="0" rtlCol="0" anchor="t"/>
          <a:lstStyle/>
          <a:p>
            <a:pPr marL="0" indent="0">
              <a:lnSpc>
                <a:spcPct val="115000"/>
              </a:lnSpc>
              <a:buNone/>
            </a:pPr>
            <a:r>
              <a:rPr lang="en-US" sz="1350" i="1" dirty="0">
                <a:solidFill>
                  <a:srgbClr val="FFFFFF"/>
                </a:solidFill>
                <a:latin typeface="Calibri" pitchFamily="34" charset="0"/>
                <a:ea typeface="Calibri" pitchFamily="34" charset="-122"/>
                <a:cs typeface="Calibri" pitchFamily="34" charset="-120"/>
              </a:rPr>
              <a:t>"Khi đang học một file nhiều trang, tôi muốn hỏi AI dựa trên đúng file đang mở và biết câu trả lời lấy từ trang nào, để không phải tự tìm lại tài liệu."</a:t>
            </a:r>
            <a:endParaRPr lang="en-US" sz="1350" dirty="0"/>
          </a:p>
        </p:txBody>
      </p:sp>
      <p:sp>
        <p:nvSpPr>
          <p:cNvPr id="16" name="Shape 14"/>
          <p:cNvSpPr/>
          <p:nvPr/>
        </p:nvSpPr>
        <p:spPr>
          <a:xfrm>
            <a:off x="457200" y="3246120"/>
            <a:ext cx="3605784" cy="1691640"/>
          </a:xfrm>
          <a:prstGeom prst="roundRect">
            <a:avLst>
              <a:gd name="adj" fmla="val 5405"/>
            </a:avLst>
          </a:prstGeom>
          <a:solidFill>
            <a:srgbClr val="0A4247"/>
          </a:solidFill>
          <a:ln/>
        </p:spPr>
        <p:txBody>
          <a:bodyPr/>
          <a:lstStyle/>
          <a:p>
            <a:endParaRPr lang="en-US"/>
          </a:p>
        </p:txBody>
      </p:sp>
      <p:sp>
        <p:nvSpPr>
          <p:cNvPr id="17" name="Text 15"/>
          <p:cNvSpPr/>
          <p:nvPr/>
        </p:nvSpPr>
        <p:spPr>
          <a:xfrm>
            <a:off x="685800" y="3429000"/>
            <a:ext cx="3148584" cy="274320"/>
          </a:xfrm>
          <a:prstGeom prst="rect">
            <a:avLst/>
          </a:prstGeom>
          <a:noFill/>
          <a:ln/>
        </p:spPr>
        <p:txBody>
          <a:bodyPr wrap="square" lIns="0" tIns="0" rIns="0" bIns="0"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PAIN — BẰNG CHỨNG 1</a:t>
            </a:r>
            <a:endParaRPr lang="en-US" sz="1100" dirty="0"/>
          </a:p>
        </p:txBody>
      </p:sp>
      <p:sp>
        <p:nvSpPr>
          <p:cNvPr id="18" name="Text 16"/>
          <p:cNvSpPr/>
          <p:nvPr/>
        </p:nvSpPr>
        <p:spPr>
          <a:xfrm>
            <a:off x="685800" y="3703320"/>
            <a:ext cx="3148584" cy="5029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10/24</a:t>
            </a:r>
            <a:endParaRPr lang="en-US" sz="3400" dirty="0"/>
          </a:p>
        </p:txBody>
      </p:sp>
      <p:sp>
        <p:nvSpPr>
          <p:cNvPr id="19" name="Text 17"/>
          <p:cNvSpPr/>
          <p:nvPr/>
        </p:nvSpPr>
        <p:spPr>
          <a:xfrm>
            <a:off x="685800" y="4206240"/>
            <a:ext cx="3148584"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người khảo sát gặp lỗi "không tìm thấy nội dung trong tài liệu"</a:t>
            </a:r>
            <a:endParaRPr lang="en-US" sz="1100" dirty="0"/>
          </a:p>
        </p:txBody>
      </p:sp>
      <p:sp>
        <p:nvSpPr>
          <p:cNvPr id="20" name="Text 18"/>
          <p:cNvSpPr/>
          <p:nvPr/>
        </p:nvSpPr>
        <p:spPr>
          <a:xfrm>
            <a:off x="685800" y="4645152"/>
            <a:ext cx="3148584" cy="256032"/>
          </a:xfrm>
          <a:prstGeom prst="rect">
            <a:avLst/>
          </a:prstGeom>
          <a:noFill/>
          <a:ln/>
        </p:spPr>
        <p:txBody>
          <a:bodyPr wrap="square" lIns="0" tIns="0" rIns="0" bIns="0" rtlCol="0" anchor="ctr"/>
          <a:lstStyle/>
          <a:p>
            <a:pPr marL="0" indent="0">
              <a:buNone/>
            </a:pPr>
            <a:r>
              <a:rPr lang="en-US" sz="900" i="1" dirty="0">
                <a:solidFill>
                  <a:srgbClr val="00A896"/>
                </a:solidFill>
                <a:latin typeface="Calibri" pitchFamily="34" charset="0"/>
                <a:ea typeface="Calibri" pitchFamily="34" charset="-122"/>
                <a:cs typeface="Calibri" pitchFamily="34" charset="-120"/>
              </a:rPr>
              <a:t>Nguồn: Google Form</a:t>
            </a:r>
            <a:endParaRPr lang="en-US" sz="900" dirty="0"/>
          </a:p>
        </p:txBody>
      </p:sp>
      <p:sp>
        <p:nvSpPr>
          <p:cNvPr id="21" name="Shape 19"/>
          <p:cNvSpPr/>
          <p:nvPr/>
        </p:nvSpPr>
        <p:spPr>
          <a:xfrm>
            <a:off x="4291584" y="3246120"/>
            <a:ext cx="3605784" cy="1691640"/>
          </a:xfrm>
          <a:prstGeom prst="roundRect">
            <a:avLst>
              <a:gd name="adj" fmla="val 5405"/>
            </a:avLst>
          </a:prstGeom>
          <a:solidFill>
            <a:srgbClr val="0A4247"/>
          </a:solidFill>
          <a:ln/>
        </p:spPr>
        <p:txBody>
          <a:bodyPr/>
          <a:lstStyle/>
          <a:p>
            <a:endParaRPr lang="en-US"/>
          </a:p>
        </p:txBody>
      </p:sp>
      <p:sp>
        <p:nvSpPr>
          <p:cNvPr id="22" name="Text 20"/>
          <p:cNvSpPr/>
          <p:nvPr/>
        </p:nvSpPr>
        <p:spPr>
          <a:xfrm>
            <a:off x="4520184" y="3429000"/>
            <a:ext cx="3148584" cy="274320"/>
          </a:xfrm>
          <a:prstGeom prst="rect">
            <a:avLst/>
          </a:prstGeom>
          <a:noFill/>
          <a:ln/>
        </p:spPr>
        <p:txBody>
          <a:bodyPr wrap="square" lIns="0" tIns="0" rIns="0" bIns="0"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PAIN — BẰNG CHỨNG 2</a:t>
            </a:r>
            <a:endParaRPr lang="en-US" sz="1100" dirty="0"/>
          </a:p>
        </p:txBody>
      </p:sp>
      <p:sp>
        <p:nvSpPr>
          <p:cNvPr id="23" name="Text 21"/>
          <p:cNvSpPr/>
          <p:nvPr/>
        </p:nvSpPr>
        <p:spPr>
          <a:xfrm>
            <a:off x="4520184" y="3703320"/>
            <a:ext cx="3148584" cy="5029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122/1621</a:t>
            </a:r>
            <a:endParaRPr lang="en-US" sz="3400" dirty="0"/>
          </a:p>
        </p:txBody>
      </p:sp>
      <p:sp>
        <p:nvSpPr>
          <p:cNvPr id="24" name="Text 22"/>
          <p:cNvSpPr/>
          <p:nvPr/>
        </p:nvSpPr>
        <p:spPr>
          <a:xfrm>
            <a:off x="4520184" y="4297680"/>
            <a:ext cx="3148584"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câu trả lời chứa "không tìm thấy" trong log </a:t>
            </a:r>
            <a:r>
              <a:rPr lang="en-US" sz="1100" dirty="0" err="1">
                <a:solidFill>
                  <a:srgbClr val="FFFFFF"/>
                </a:solidFill>
                <a:latin typeface="Calibri" pitchFamily="34" charset="0"/>
                <a:ea typeface="Calibri" pitchFamily="34" charset="-122"/>
                <a:cs typeface="Calibri" pitchFamily="34" charset="-120"/>
              </a:rPr>
              <a:t>hệ</a:t>
            </a:r>
            <a:r>
              <a:rPr lang="en-US" sz="1100" dirty="0">
                <a:solidFill>
                  <a:srgbClr val="FFFFFF"/>
                </a:solidFill>
                <a:latin typeface="Calibri" pitchFamily="34" charset="0"/>
                <a:ea typeface="Calibri" pitchFamily="34" charset="-122"/>
                <a:cs typeface="Calibri" pitchFamily="34" charset="-120"/>
              </a:rPr>
              <a:t> </a:t>
            </a:r>
            <a:r>
              <a:rPr lang="en-US" sz="1100" dirty="0" err="1">
                <a:solidFill>
                  <a:srgbClr val="FFFFFF"/>
                </a:solidFill>
                <a:latin typeface="Calibri" pitchFamily="34" charset="0"/>
                <a:ea typeface="Calibri" pitchFamily="34" charset="-122"/>
                <a:cs typeface="Calibri" pitchFamily="34" charset="-120"/>
              </a:rPr>
              <a:t>thống</a:t>
            </a:r>
            <a:endParaRPr lang="en-US" sz="1100" dirty="0">
              <a:solidFill>
                <a:srgbClr val="FFFFFF"/>
              </a:solidFill>
              <a:latin typeface="Calibri" pitchFamily="34" charset="0"/>
              <a:ea typeface="Calibri" pitchFamily="34" charset="-122"/>
              <a:cs typeface="Calibri" pitchFamily="34" charset="-120"/>
            </a:endParaRPr>
          </a:p>
          <a:p>
            <a:pPr marL="0" indent="0">
              <a:buNone/>
            </a:pPr>
            <a:endParaRPr lang="en-US" sz="1100" dirty="0">
              <a:solidFill>
                <a:srgbClr val="FFFFFF"/>
              </a:solidFill>
              <a:latin typeface="Calibri" pitchFamily="34" charset="0"/>
              <a:ea typeface="Calibri" pitchFamily="34" charset="-122"/>
              <a:cs typeface="Calibri" pitchFamily="34" charset="-120"/>
            </a:endParaRPr>
          </a:p>
          <a:p>
            <a:r>
              <a:rPr lang="en-US" sz="1000" i="1" dirty="0" err="1">
                <a:solidFill>
                  <a:srgbClr val="00A896"/>
                </a:solidFill>
                <a:latin typeface="Calibri" pitchFamily="34" charset="0"/>
                <a:ea typeface="Calibri" pitchFamily="34" charset="-122"/>
                <a:cs typeface="Calibri" pitchFamily="34" charset="-120"/>
              </a:rPr>
              <a:t>Nguồn</a:t>
            </a:r>
            <a:r>
              <a:rPr lang="en-US" sz="1000" i="1" dirty="0">
                <a:solidFill>
                  <a:srgbClr val="00A896"/>
                </a:solidFill>
                <a:latin typeface="Calibri" pitchFamily="34" charset="0"/>
                <a:ea typeface="Calibri" pitchFamily="34" charset="-122"/>
                <a:cs typeface="Calibri" pitchFamily="34" charset="-120"/>
              </a:rPr>
              <a:t>: Chatlog</a:t>
            </a:r>
            <a:endParaRPr lang="en-US" sz="1000" dirty="0"/>
          </a:p>
        </p:txBody>
      </p:sp>
      <p:sp>
        <p:nvSpPr>
          <p:cNvPr id="25" name="Shape 23"/>
          <p:cNvSpPr/>
          <p:nvPr/>
        </p:nvSpPr>
        <p:spPr>
          <a:xfrm>
            <a:off x="8125968" y="3246120"/>
            <a:ext cx="3605784" cy="1691640"/>
          </a:xfrm>
          <a:prstGeom prst="roundRect">
            <a:avLst>
              <a:gd name="adj" fmla="val 5405"/>
            </a:avLst>
          </a:prstGeom>
          <a:solidFill>
            <a:srgbClr val="02C39A"/>
          </a:solidFill>
          <a:ln/>
        </p:spPr>
        <p:txBody>
          <a:bodyPr/>
          <a:lstStyle/>
          <a:p>
            <a:endParaRPr lang="en-US"/>
          </a:p>
        </p:txBody>
      </p:sp>
      <p:sp>
        <p:nvSpPr>
          <p:cNvPr id="26" name="Text 24"/>
          <p:cNvSpPr/>
          <p:nvPr/>
        </p:nvSpPr>
        <p:spPr>
          <a:xfrm>
            <a:off x="8354568" y="3429000"/>
            <a:ext cx="3148584" cy="274320"/>
          </a:xfrm>
          <a:prstGeom prst="rect">
            <a:avLst/>
          </a:prstGeom>
          <a:noFill/>
          <a:ln/>
        </p:spPr>
        <p:txBody>
          <a:bodyPr wrap="square" lIns="0" tIns="0" rIns="0" bIns="0" rtlCol="0" anchor="ctr"/>
          <a:lstStyle/>
          <a:p>
            <a:pPr marL="0" indent="0">
              <a:buNone/>
            </a:pPr>
            <a:r>
              <a:rPr lang="en-US" sz="1100" b="1" kern="0" spc="150" dirty="0">
                <a:solidFill>
                  <a:srgbClr val="06363A"/>
                </a:solidFill>
                <a:latin typeface="Calibri" pitchFamily="34" charset="0"/>
                <a:ea typeface="Calibri" pitchFamily="34" charset="-122"/>
                <a:cs typeface="Calibri" pitchFamily="34" charset="-120"/>
              </a:rPr>
              <a:t>INSIGHT</a:t>
            </a:r>
            <a:endParaRPr lang="en-US" sz="1100" dirty="0"/>
          </a:p>
        </p:txBody>
      </p:sp>
      <p:sp>
        <p:nvSpPr>
          <p:cNvPr id="27" name="Text 25"/>
          <p:cNvSpPr/>
          <p:nvPr/>
        </p:nvSpPr>
        <p:spPr>
          <a:xfrm>
            <a:off x="8354568" y="3749040"/>
            <a:ext cx="3148584" cy="960120"/>
          </a:xfrm>
          <a:prstGeom prst="rect">
            <a:avLst/>
          </a:prstGeom>
          <a:noFill/>
          <a:ln/>
        </p:spPr>
        <p:txBody>
          <a:bodyPr wrap="square" lIns="0" tIns="0" rIns="0" bIns="0" rtlCol="0" anchor="ctr"/>
          <a:lstStyle/>
          <a:p>
            <a:pPr marL="0" indent="0">
              <a:lnSpc>
                <a:spcPct val="115000"/>
              </a:lnSpc>
              <a:buNone/>
            </a:pPr>
            <a:r>
              <a:rPr lang="en-US" sz="1250" b="1" dirty="0">
                <a:solidFill>
                  <a:srgbClr val="06363A"/>
                </a:solidFill>
                <a:latin typeface="Calibri" pitchFamily="34" charset="0"/>
                <a:ea typeface="Calibri" pitchFamily="34" charset="-122"/>
                <a:cs typeface="Calibri" pitchFamily="34" charset="-120"/>
              </a:rPr>
              <a:t>Người học mất mạch đọc vì phải tự tìm lại đúng trang hoặc chuyển sang chatbot khác.</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028090"/>
          </a:solidFill>
          <a:ln/>
        </p:spPr>
        <p:txBody>
          <a:bodyPr/>
          <a:lstStyle/>
          <a:p>
            <a:endParaRPr lang="en-US"/>
          </a:p>
        </p:txBody>
      </p:sp>
      <p:sp>
        <p:nvSpPr>
          <p:cNvPr id="3" name="Text 1"/>
          <p:cNvSpPr/>
          <p:nvPr/>
        </p:nvSpPr>
        <p:spPr>
          <a:xfrm>
            <a:off x="457200" y="3840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4" name="Text 2"/>
          <p:cNvSpPr/>
          <p:nvPr/>
        </p:nvSpPr>
        <p:spPr>
          <a:xfrm>
            <a:off x="1143000" y="347472"/>
            <a:ext cx="10588752" cy="594360"/>
          </a:xfrm>
          <a:prstGeom prst="rect">
            <a:avLst/>
          </a:prstGeom>
          <a:noFill/>
          <a:ln/>
        </p:spPr>
        <p:txBody>
          <a:bodyPr wrap="square" lIns="0" tIns="0" rIns="0" bIns="0" rtlCol="0" anchor="ctr"/>
          <a:lstStyle/>
          <a:p>
            <a:pPr marL="0" indent="0">
              <a:buNone/>
            </a:pPr>
            <a:r>
              <a:rPr lang="en-US" sz="3200" b="1" dirty="0">
                <a:solidFill>
                  <a:srgbClr val="10302D"/>
                </a:solidFill>
                <a:latin typeface="Cambria" pitchFamily="34" charset="0"/>
                <a:ea typeface="Cambria" pitchFamily="34" charset="-122"/>
                <a:cs typeface="Cambria" pitchFamily="34" charset="-120"/>
              </a:rPr>
              <a:t>Vì sao chọn tính năng này</a:t>
            </a:r>
            <a:endParaRPr lang="en-US" sz="3200" dirty="0"/>
          </a:p>
        </p:txBody>
      </p:sp>
      <p:sp>
        <p:nvSpPr>
          <p:cNvPr id="5" name="Text 3"/>
          <p:cNvSpPr/>
          <p:nvPr/>
        </p:nvSpPr>
        <p:spPr>
          <a:xfrm>
            <a:off x="1143000" y="896112"/>
            <a:ext cx="10588752" cy="274320"/>
          </a:xfrm>
          <a:prstGeom prst="rect">
            <a:avLst/>
          </a:prstGeom>
          <a:noFill/>
          <a:ln/>
        </p:spPr>
        <p:txBody>
          <a:bodyPr wrap="square" lIns="0" tIns="0" rIns="0" bIns="0" rtlCol="0" anchor="ctr"/>
          <a:lstStyle/>
          <a:p>
            <a:pPr marL="0" indent="0">
              <a:buNone/>
            </a:pPr>
            <a:r>
              <a:rPr lang="en-US" sz="1300" i="1" dirty="0">
                <a:solidFill>
                  <a:srgbClr val="56736F"/>
                </a:solidFill>
                <a:latin typeface="Calibri" pitchFamily="34" charset="0"/>
                <a:ea typeface="Calibri" pitchFamily="34" charset="-122"/>
                <a:cs typeface="Calibri" pitchFamily="34" charset="-120"/>
              </a:rPr>
              <a:t>So sánh các ứng viên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1828800"/>
        </p:xfrm>
        <a:graphic>
          <a:graphicData uri="http://schemas.openxmlformats.org/drawingml/2006/table">
            <a:tbl>
              <a:tblPr/>
              <a:tblGrid>
                <a:gridCol w="4206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rPr>
                        <a:t>Ứng viên</a:t>
                      </a:r>
                      <a:endParaRPr lang="en-US" sz="12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rPr>
                        <a:t>Evidence</a:t>
                      </a:r>
                      <a:endParaRPr lang="en-US" sz="12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rPr>
                        <a:t>Quyết định</a:t>
                      </a:r>
                      <a:endParaRPr lang="en-US" sz="12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0302D"/>
                          </a:solidFill>
                        </a:rPr>
                        <a:t>Hỏi theo trang hiện tại</a:t>
                      </a:r>
                      <a:endParaRPr lang="en-US" sz="13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tcPr>
                </a:tc>
                <a:tc>
                  <a:txBody>
                    <a:bodyPr/>
                    <a:lstStyle/>
                    <a:p>
                      <a:pPr marL="0" indent="0">
                        <a:buNone/>
                      </a:pPr>
                      <a:r>
                        <a:rPr lang="en-US" sz="1300" dirty="0">
                          <a:solidFill>
                            <a:srgbClr val="56736F"/>
                          </a:solidFill>
                        </a:rPr>
                        <a:t>1/3 user test</a:t>
                      </a:r>
                      <a:endParaRPr lang="en-US" sz="13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tcPr>
                </a:tc>
                <a:tc>
                  <a:txBody>
                    <a:bodyPr/>
                    <a:lstStyle/>
                    <a:p>
                      <a:pPr marL="0" indent="0">
                        <a:buNone/>
                      </a:pPr>
                      <a:r>
                        <a:rPr lang="en-US" sz="1300" b="1" dirty="0">
                          <a:solidFill>
                            <a:srgbClr val="9C3B3B"/>
                          </a:solidFill>
                        </a:rPr>
                        <a:t>✗  Không chọn</a:t>
                      </a:r>
                      <a:endParaRPr lang="en-US" sz="13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0302D"/>
                          </a:solidFill>
                        </a:rPr>
                        <a:t>Hỏi theo đoạn bôi đen</a:t>
                      </a:r>
                      <a:endParaRPr lang="en-US" sz="13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tcPr>
                </a:tc>
                <a:tc>
                  <a:txBody>
                    <a:bodyPr/>
                    <a:lstStyle/>
                    <a:p>
                      <a:pPr marL="0" indent="0">
                        <a:buNone/>
                      </a:pPr>
                      <a:r>
                        <a:rPr lang="en-US" sz="1300" dirty="0">
                          <a:solidFill>
                            <a:srgbClr val="56736F"/>
                          </a:solidFill>
                        </a:rPr>
                        <a:t>2/3 user test</a:t>
                      </a:r>
                      <a:endParaRPr lang="en-US" sz="13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tcPr>
                </a:tc>
                <a:tc>
                  <a:txBody>
                    <a:bodyPr/>
                    <a:lstStyle/>
                    <a:p>
                      <a:pPr marL="0" indent="0">
                        <a:buNone/>
                      </a:pPr>
                      <a:r>
                        <a:rPr lang="en-US" sz="1300" b="1" dirty="0">
                          <a:solidFill>
                            <a:srgbClr val="8A5A12"/>
                          </a:solidFill>
                        </a:rPr>
                        <a:t>~  Giữ làm nhánh phụ</a:t>
                      </a:r>
                      <a:endParaRPr lang="en-US" sz="130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50" b="1" dirty="0">
                          <a:solidFill>
                            <a:srgbClr val="10302D"/>
                          </a:solidFill>
                        </a:rPr>
                        <a:t>Toàn bộ file đang mở</a:t>
                      </a:r>
                      <a:endParaRPr lang="en-US" sz="135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solidFill>
                      <a:srgbClr val="E1F1EF"/>
                    </a:solidFill>
                  </a:tcPr>
                </a:tc>
                <a:tc>
                  <a:txBody>
                    <a:bodyPr/>
                    <a:lstStyle/>
                    <a:p>
                      <a:pPr marL="0" indent="0">
                        <a:buNone/>
                      </a:pPr>
                      <a:r>
                        <a:rPr lang="en-US" sz="1350" b="1" dirty="0">
                          <a:solidFill>
                            <a:srgbClr val="10302D"/>
                          </a:solidFill>
                        </a:rPr>
                        <a:t>3/3 user test</a:t>
                      </a:r>
                      <a:endParaRPr lang="en-US" sz="135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solidFill>
                      <a:srgbClr val="E1F1EF"/>
                    </a:solidFill>
                  </a:tcPr>
                </a:tc>
                <a:tc>
                  <a:txBody>
                    <a:bodyPr/>
                    <a:lstStyle/>
                    <a:p>
                      <a:pPr marL="0" indent="0">
                        <a:buNone/>
                      </a:pPr>
                      <a:r>
                        <a:rPr lang="en-US" sz="1350" b="1" dirty="0">
                          <a:solidFill>
                            <a:srgbClr val="0B7A5B"/>
                          </a:solidFill>
                        </a:rPr>
                        <a:t>✅  Chọn</a:t>
                      </a:r>
                      <a:endParaRPr lang="en-US" sz="1350" dirty="0"/>
                    </a:p>
                  </a:txBody>
                  <a:tcPr marL="127000" marR="127000" marT="76200" marB="76200" anchor="ctr">
                    <a:lnL w="12700" cap="flat" cmpd="sng" algn="ctr">
                      <a:solidFill>
                        <a:srgbClr val="DCEBEA"/>
                      </a:solidFill>
                      <a:prstDash val="solid"/>
                      <a:round/>
                      <a:headEnd type="none" w="med" len="med"/>
                      <a:tailEnd type="none" w="med" len="med"/>
                    </a:lnL>
                    <a:lnR w="12700" cap="flat" cmpd="sng" algn="ctr">
                      <a:solidFill>
                        <a:srgbClr val="DCEBEA"/>
                      </a:solidFill>
                      <a:prstDash val="solid"/>
                      <a:round/>
                      <a:headEnd type="none" w="med" len="med"/>
                      <a:tailEnd type="none" w="med" len="med"/>
                    </a:lnR>
                    <a:lnT w="12700" cap="flat" cmpd="sng" algn="ctr">
                      <a:solidFill>
                        <a:srgbClr val="DCEBEA"/>
                      </a:solidFill>
                      <a:prstDash val="solid"/>
                      <a:round/>
                      <a:headEnd type="none" w="med" len="med"/>
                      <a:tailEnd type="none" w="med" len="med"/>
                    </a:lnT>
                    <a:lnB w="12700" cap="flat" cmpd="sng" algn="ctr">
                      <a:solidFill>
                        <a:srgbClr val="DCEBEA"/>
                      </a:solidFill>
                      <a:prstDash val="solid"/>
                      <a:round/>
                      <a:headEnd type="none" w="med" len="med"/>
                      <a:tailEnd type="none" w="med" len="med"/>
                    </a:lnB>
                    <a:solidFill>
                      <a:srgbClr val="E1F1EF"/>
                    </a:solidFill>
                  </a:tcPr>
                </a:tc>
                <a:extLst>
                  <a:ext uri="{0D108BD9-81ED-4DB2-BD59-A6C34878D82A}">
                    <a16:rowId xmlns:a16="http://schemas.microsoft.com/office/drawing/2014/main" val="10003"/>
                  </a:ext>
                </a:extLst>
              </a:tr>
            </a:tbl>
          </a:graphicData>
        </a:graphic>
      </p:graphicFrame>
      <p:sp>
        <p:nvSpPr>
          <p:cNvPr id="7" name="Shape 4"/>
          <p:cNvSpPr/>
          <p:nvPr/>
        </p:nvSpPr>
        <p:spPr>
          <a:xfrm>
            <a:off x="457200" y="3520440"/>
            <a:ext cx="6400800" cy="2834640"/>
          </a:xfrm>
          <a:prstGeom prst="roundRect">
            <a:avLst>
              <a:gd name="adj" fmla="val 3226"/>
            </a:avLst>
          </a:prstGeom>
          <a:solidFill>
            <a:srgbClr val="EDF7F6"/>
          </a:solidFill>
          <a:ln/>
        </p:spPr>
        <p:txBody>
          <a:bodyPr/>
          <a:lstStyle/>
          <a:p>
            <a:endParaRPr lang="en-US"/>
          </a:p>
        </p:txBody>
      </p:sp>
      <p:sp>
        <p:nvSpPr>
          <p:cNvPr id="8" name="Text 5"/>
          <p:cNvSpPr/>
          <p:nvPr/>
        </p:nvSpPr>
        <p:spPr>
          <a:xfrm>
            <a:off x="731520" y="3749040"/>
            <a:ext cx="3657600" cy="274320"/>
          </a:xfrm>
          <a:prstGeom prst="rect">
            <a:avLst/>
          </a:prstGeom>
          <a:noFill/>
          <a:ln/>
        </p:spPr>
        <p:txBody>
          <a:bodyPr wrap="square" lIns="0" tIns="0" rIns="0" bIns="0"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VÌ SAO CHỌN?</a:t>
            </a:r>
            <a:endParaRPr lang="en-US" sz="1100" dirty="0"/>
          </a:p>
        </p:txBody>
      </p:sp>
      <p:sp>
        <p:nvSpPr>
          <p:cNvPr id="9" name="Shape 6"/>
          <p:cNvSpPr/>
          <p:nvPr/>
        </p:nvSpPr>
        <p:spPr>
          <a:xfrm>
            <a:off x="731520" y="4206240"/>
            <a:ext cx="292608" cy="292608"/>
          </a:xfrm>
          <a:prstGeom prst="ellipse">
            <a:avLst/>
          </a:prstGeom>
          <a:solidFill>
            <a:srgbClr val="02C39A"/>
          </a:solidFill>
          <a:ln/>
        </p:spPr>
        <p:txBody>
          <a:bodyPr/>
          <a:lstStyle/>
          <a:p>
            <a:endParaRPr lang="en-US"/>
          </a:p>
        </p:txBody>
      </p:sp>
      <p:sp>
        <p:nvSpPr>
          <p:cNvPr id="10" name="Text 7"/>
          <p:cNvSpPr/>
          <p:nvPr/>
        </p:nvSpPr>
        <p:spPr>
          <a:xfrm>
            <a:off x="731520" y="4206240"/>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1" name="Text 8"/>
          <p:cNvSpPr/>
          <p:nvPr/>
        </p:nvSpPr>
        <p:spPr>
          <a:xfrm>
            <a:off x="1170432" y="4169664"/>
            <a:ext cx="5303520" cy="457200"/>
          </a:xfrm>
          <a:prstGeom prst="rect">
            <a:avLst/>
          </a:prstGeom>
          <a:noFill/>
          <a:ln/>
        </p:spPr>
        <p:txBody>
          <a:bodyPr wrap="square" lIns="0" tIns="0" rIns="0" bIns="0" rtlCol="0" anchor="ctr"/>
          <a:lstStyle/>
          <a:p>
            <a:pPr marL="0" indent="0">
              <a:buNone/>
            </a:pPr>
            <a:r>
              <a:rPr lang="en-US" sz="1400" dirty="0">
                <a:solidFill>
                  <a:srgbClr val="10302D"/>
                </a:solidFill>
                <a:latin typeface="Calibri" pitchFamily="34" charset="0"/>
                <a:ea typeface="Calibri" pitchFamily="34" charset="-122"/>
                <a:cs typeface="Calibri" pitchFamily="34" charset="-120"/>
              </a:rPr>
              <a:t>Phù hợp nhu cầu ôn tập toàn bộ bài giảng.</a:t>
            </a:r>
            <a:endParaRPr lang="en-US" sz="1400" dirty="0"/>
          </a:p>
        </p:txBody>
      </p:sp>
      <p:sp>
        <p:nvSpPr>
          <p:cNvPr id="12" name="Shape 9"/>
          <p:cNvSpPr/>
          <p:nvPr/>
        </p:nvSpPr>
        <p:spPr>
          <a:xfrm>
            <a:off x="731520" y="4864608"/>
            <a:ext cx="292608" cy="292608"/>
          </a:xfrm>
          <a:prstGeom prst="ellipse">
            <a:avLst/>
          </a:prstGeom>
          <a:solidFill>
            <a:srgbClr val="02C39A"/>
          </a:solidFill>
          <a:ln/>
        </p:spPr>
        <p:txBody>
          <a:bodyPr/>
          <a:lstStyle/>
          <a:p>
            <a:endParaRPr lang="en-US"/>
          </a:p>
        </p:txBody>
      </p:sp>
      <p:sp>
        <p:nvSpPr>
          <p:cNvPr id="13" name="Text 10"/>
          <p:cNvSpPr/>
          <p:nvPr/>
        </p:nvSpPr>
        <p:spPr>
          <a:xfrm>
            <a:off x="731520" y="4864608"/>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4" name="Text 11"/>
          <p:cNvSpPr/>
          <p:nvPr/>
        </p:nvSpPr>
        <p:spPr>
          <a:xfrm>
            <a:off x="1170432" y="4828032"/>
            <a:ext cx="5303520" cy="457200"/>
          </a:xfrm>
          <a:prstGeom prst="rect">
            <a:avLst/>
          </a:prstGeom>
          <a:noFill/>
          <a:ln/>
        </p:spPr>
        <p:txBody>
          <a:bodyPr wrap="square" lIns="0" tIns="0" rIns="0" bIns="0" rtlCol="0" anchor="ctr"/>
          <a:lstStyle/>
          <a:p>
            <a:pPr marL="0" indent="0">
              <a:buNone/>
            </a:pPr>
            <a:r>
              <a:rPr lang="en-US" sz="1400" dirty="0">
                <a:solidFill>
                  <a:srgbClr val="10302D"/>
                </a:solidFill>
                <a:latin typeface="Calibri" pitchFamily="34" charset="0"/>
                <a:ea typeface="Calibri" pitchFamily="34" charset="-122"/>
                <a:cs typeface="Calibri" pitchFamily="34" charset="-120"/>
              </a:rPr>
              <a:t>Tận dụng retrieval + citation đã có.</a:t>
            </a:r>
            <a:endParaRPr lang="en-US" sz="1400" dirty="0"/>
          </a:p>
        </p:txBody>
      </p:sp>
      <p:sp>
        <p:nvSpPr>
          <p:cNvPr id="15" name="Shape 12"/>
          <p:cNvSpPr/>
          <p:nvPr/>
        </p:nvSpPr>
        <p:spPr>
          <a:xfrm>
            <a:off x="731520" y="5522976"/>
            <a:ext cx="292608" cy="292608"/>
          </a:xfrm>
          <a:prstGeom prst="ellipse">
            <a:avLst/>
          </a:prstGeom>
          <a:solidFill>
            <a:srgbClr val="02C39A"/>
          </a:solidFill>
          <a:ln/>
        </p:spPr>
        <p:txBody>
          <a:bodyPr/>
          <a:lstStyle/>
          <a:p>
            <a:endParaRPr lang="en-US"/>
          </a:p>
        </p:txBody>
      </p:sp>
      <p:sp>
        <p:nvSpPr>
          <p:cNvPr id="16" name="Text 13"/>
          <p:cNvSpPr/>
          <p:nvPr/>
        </p:nvSpPr>
        <p:spPr>
          <a:xfrm>
            <a:off x="731520" y="5522976"/>
            <a:ext cx="292608" cy="292608"/>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7" name="Text 14"/>
          <p:cNvSpPr/>
          <p:nvPr/>
        </p:nvSpPr>
        <p:spPr>
          <a:xfrm>
            <a:off x="1170432" y="5486400"/>
            <a:ext cx="5303520" cy="457200"/>
          </a:xfrm>
          <a:prstGeom prst="rect">
            <a:avLst/>
          </a:prstGeom>
          <a:noFill/>
          <a:ln/>
        </p:spPr>
        <p:txBody>
          <a:bodyPr wrap="square" lIns="0" tIns="0" rIns="0" bIns="0" rtlCol="0" anchor="ctr"/>
          <a:lstStyle/>
          <a:p>
            <a:pPr marL="0" indent="0">
              <a:buNone/>
            </a:pPr>
            <a:r>
              <a:rPr lang="en-US" sz="1400" dirty="0">
                <a:solidFill>
                  <a:srgbClr val="10302D"/>
                </a:solidFill>
                <a:latin typeface="Calibri" pitchFamily="34" charset="0"/>
                <a:ea typeface="Calibri" pitchFamily="34" charset="-122"/>
                <a:cs typeface="Calibri" pitchFamily="34" charset="-120"/>
              </a:rPr>
              <a:t>Không cần thay đổi kiến trúc hệ thống.</a:t>
            </a:r>
            <a:endParaRPr lang="en-US" sz="1400" dirty="0"/>
          </a:p>
        </p:txBody>
      </p:sp>
      <p:sp>
        <p:nvSpPr>
          <p:cNvPr id="18" name="Shape 15"/>
          <p:cNvSpPr/>
          <p:nvPr/>
        </p:nvSpPr>
        <p:spPr>
          <a:xfrm>
            <a:off x="7086600" y="3520440"/>
            <a:ext cx="4645152" cy="2834640"/>
          </a:xfrm>
          <a:prstGeom prst="roundRect">
            <a:avLst>
              <a:gd name="adj" fmla="val 3226"/>
            </a:avLst>
          </a:prstGeom>
          <a:solidFill>
            <a:srgbClr val="FBECEC"/>
          </a:solidFill>
          <a:ln/>
        </p:spPr>
        <p:txBody>
          <a:bodyPr/>
          <a:lstStyle/>
          <a:p>
            <a:endParaRPr lang="en-US"/>
          </a:p>
        </p:txBody>
      </p:sp>
      <p:sp>
        <p:nvSpPr>
          <p:cNvPr id="19" name="Text 16"/>
          <p:cNvSpPr/>
          <p:nvPr/>
        </p:nvSpPr>
        <p:spPr>
          <a:xfrm>
            <a:off x="7360920" y="3749040"/>
            <a:ext cx="2743200" cy="274320"/>
          </a:xfrm>
          <a:prstGeom prst="rect">
            <a:avLst/>
          </a:prstGeom>
          <a:noFill/>
          <a:ln/>
        </p:spPr>
        <p:txBody>
          <a:bodyPr wrap="square" lIns="0" tIns="0" rIns="0" bIns="0" rtlCol="0" anchor="ctr"/>
          <a:lstStyle/>
          <a:p>
            <a:pPr marL="0" indent="0">
              <a:buNone/>
            </a:pPr>
            <a:r>
              <a:rPr lang="en-US" sz="1100" b="1" kern="0" spc="150" dirty="0">
                <a:solidFill>
                  <a:srgbClr val="C0483F"/>
                </a:solidFill>
                <a:latin typeface="Calibri" pitchFamily="34" charset="0"/>
                <a:ea typeface="Calibri" pitchFamily="34" charset="-122"/>
                <a:cs typeface="Calibri" pitchFamily="34" charset="-120"/>
              </a:rPr>
              <a:t>LOẠI VÌ</a:t>
            </a:r>
            <a:endParaRPr lang="en-US" sz="1100" dirty="0"/>
          </a:p>
        </p:txBody>
      </p:sp>
      <p:sp>
        <p:nvSpPr>
          <p:cNvPr id="20" name="Text 17"/>
          <p:cNvSpPr/>
          <p:nvPr/>
        </p:nvSpPr>
        <p:spPr>
          <a:xfrm>
            <a:off x="7360920" y="4178808"/>
            <a:ext cx="4096512" cy="502920"/>
          </a:xfrm>
          <a:prstGeom prst="rect">
            <a:avLst/>
          </a:prstGeom>
          <a:noFill/>
          <a:ln/>
        </p:spPr>
        <p:txBody>
          <a:bodyPr wrap="square" lIns="0" tIns="0" rIns="0" bIns="0" rtlCol="0" anchor="ctr"/>
          <a:lstStyle/>
          <a:p>
            <a:pPr marL="0" indent="0">
              <a:buNone/>
            </a:pPr>
            <a:r>
              <a:rPr lang="en-US" sz="1450" b="1" dirty="0">
                <a:solidFill>
                  <a:srgbClr val="9C3B3B"/>
                </a:solidFill>
                <a:latin typeface="Calibri" pitchFamily="34" charset="0"/>
                <a:ea typeface="Calibri" pitchFamily="34" charset="-122"/>
                <a:cs typeface="Calibri" pitchFamily="34" charset="-120"/>
              </a:rPr>
              <a:t>Full course / nhiều tài liệu cùng lúc</a:t>
            </a:r>
            <a:endParaRPr lang="en-US" sz="1450" dirty="0"/>
          </a:p>
        </p:txBody>
      </p:sp>
      <p:sp>
        <p:nvSpPr>
          <p:cNvPr id="21" name="Text 18"/>
          <p:cNvSpPr/>
          <p:nvPr/>
        </p:nvSpPr>
        <p:spPr>
          <a:xfrm>
            <a:off x="7360920" y="4754880"/>
            <a:ext cx="4096512" cy="731520"/>
          </a:xfrm>
          <a:prstGeom prst="rect">
            <a:avLst/>
          </a:prstGeom>
          <a:noFill/>
          <a:ln/>
        </p:spPr>
        <p:txBody>
          <a:bodyPr wrap="square" lIns="0" tIns="0" rIns="0" bIns="0" rtlCol="0" anchor="ctr"/>
          <a:lstStyle/>
          <a:p>
            <a:pPr marL="0" indent="0">
              <a:buNone/>
            </a:pPr>
            <a:r>
              <a:rPr lang="en-US" sz="1300" i="1" dirty="0">
                <a:solidFill>
                  <a:srgbClr val="9C3B3B"/>
                </a:solidFill>
                <a:latin typeface="Calibri" pitchFamily="34" charset="0"/>
                <a:ea typeface="Calibri" pitchFamily="34" charset="-122"/>
                <a:cs typeface="Calibri" pitchFamily="34" charset="-120"/>
              </a:rPr>
              <a:t>→ dễ lẫn nguồn, khó truy citation.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028090"/>
          </a:solidFill>
          <a:ln/>
        </p:spPr>
        <p:txBody>
          <a:bodyPr/>
          <a:lstStyle/>
          <a:p>
            <a:endParaRPr lang="en-US"/>
          </a:p>
        </p:txBody>
      </p:sp>
      <p:sp>
        <p:nvSpPr>
          <p:cNvPr id="3" name="Text 1"/>
          <p:cNvSpPr/>
          <p:nvPr/>
        </p:nvSpPr>
        <p:spPr>
          <a:xfrm>
            <a:off x="457200" y="3840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4" name="Text 2"/>
          <p:cNvSpPr/>
          <p:nvPr/>
        </p:nvSpPr>
        <p:spPr>
          <a:xfrm>
            <a:off x="1143000" y="347472"/>
            <a:ext cx="10588752" cy="594360"/>
          </a:xfrm>
          <a:prstGeom prst="rect">
            <a:avLst/>
          </a:prstGeom>
          <a:noFill/>
          <a:ln/>
        </p:spPr>
        <p:txBody>
          <a:bodyPr wrap="square" lIns="0" tIns="0" rIns="0" bIns="0" rtlCol="0" anchor="ctr"/>
          <a:lstStyle/>
          <a:p>
            <a:pPr marL="0" indent="0">
              <a:buNone/>
            </a:pPr>
            <a:r>
              <a:rPr lang="en-US" sz="3200" b="1" dirty="0">
                <a:solidFill>
                  <a:srgbClr val="10302D"/>
                </a:solidFill>
                <a:latin typeface="Cambria" pitchFamily="34" charset="0"/>
                <a:ea typeface="Cambria" pitchFamily="34" charset="-122"/>
                <a:cs typeface="Cambria" pitchFamily="34" charset="-120"/>
              </a:rPr>
              <a:t>Giải pháp &amp; Demo</a:t>
            </a:r>
            <a:endParaRPr lang="en-US" sz="3200" dirty="0"/>
          </a:p>
        </p:txBody>
      </p:sp>
      <p:sp>
        <p:nvSpPr>
          <p:cNvPr id="5" name="Shape 3"/>
          <p:cNvSpPr/>
          <p:nvPr/>
        </p:nvSpPr>
        <p:spPr>
          <a:xfrm>
            <a:off x="457200" y="960120"/>
            <a:ext cx="11274552" cy="685800"/>
          </a:xfrm>
          <a:prstGeom prst="roundRect">
            <a:avLst>
              <a:gd name="adj" fmla="val 10667"/>
            </a:avLst>
          </a:prstGeom>
          <a:solidFill>
            <a:srgbClr val="028090"/>
          </a:solidFill>
          <a:ln/>
        </p:spPr>
        <p:txBody>
          <a:bodyPr/>
          <a:lstStyle/>
          <a:p>
            <a:endParaRPr lang="en-US"/>
          </a:p>
        </p:txBody>
      </p:sp>
      <p:sp>
        <p:nvSpPr>
          <p:cNvPr id="6" name="Text 4"/>
          <p:cNvSpPr/>
          <p:nvPr/>
        </p:nvSpPr>
        <p:spPr>
          <a:xfrm>
            <a:off x="731520" y="1051560"/>
            <a:ext cx="1828800" cy="274320"/>
          </a:xfrm>
          <a:prstGeom prst="rect">
            <a:avLst/>
          </a:prstGeom>
          <a:noFill/>
          <a:ln/>
        </p:spPr>
        <p:txBody>
          <a:bodyPr wrap="square" lIns="0" tIns="0" rIns="0" bIns="0" rtlCol="0" anchor="ctr"/>
          <a:lstStyle/>
          <a:p>
            <a:pPr marL="0" indent="0">
              <a:buNone/>
            </a:pPr>
            <a:r>
              <a:rPr lang="en-US" sz="1100" b="1" kern="0" spc="150" dirty="0">
                <a:solidFill>
                  <a:srgbClr val="FFFFFF"/>
                </a:solidFill>
                <a:latin typeface="Calibri" pitchFamily="34" charset="0"/>
                <a:ea typeface="Calibri" pitchFamily="34" charset="-122"/>
                <a:cs typeface="Calibri" pitchFamily="34" charset="-120"/>
              </a:rPr>
              <a:t>LÁT CẮT</a:t>
            </a:r>
            <a:endParaRPr lang="en-US" sz="1100" dirty="0"/>
          </a:p>
        </p:txBody>
      </p:sp>
      <p:sp>
        <p:nvSpPr>
          <p:cNvPr id="7" name="Text 5"/>
          <p:cNvSpPr/>
          <p:nvPr/>
        </p:nvSpPr>
        <p:spPr>
          <a:xfrm>
            <a:off x="731520" y="1271016"/>
            <a:ext cx="10725912" cy="34747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Người học chọn "Toàn bộ file", đặt câu hỏi — AI chỉ trả lời từ đúng file đó và kèm citation.</a:t>
            </a:r>
            <a:endParaRPr lang="en-US" sz="1350" dirty="0"/>
          </a:p>
        </p:txBody>
      </p:sp>
      <p:sp>
        <p:nvSpPr>
          <p:cNvPr id="8" name="Text 6"/>
          <p:cNvSpPr/>
          <p:nvPr/>
        </p:nvSpPr>
        <p:spPr>
          <a:xfrm>
            <a:off x="457200" y="1874520"/>
            <a:ext cx="4572000" cy="274320"/>
          </a:xfrm>
          <a:prstGeom prst="rect">
            <a:avLst/>
          </a:prstGeom>
          <a:noFill/>
          <a:ln/>
        </p:spPr>
        <p:txBody>
          <a:bodyPr wrap="square" lIns="0" tIns="0" rIns="0" bIns="0"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CONDITIONAL AUTOMATION</a:t>
            </a:r>
            <a:endParaRPr lang="en-US" sz="1100" dirty="0"/>
          </a:p>
        </p:txBody>
      </p:sp>
      <p:sp>
        <p:nvSpPr>
          <p:cNvPr id="9" name="Shape 7"/>
          <p:cNvSpPr/>
          <p:nvPr/>
        </p:nvSpPr>
        <p:spPr>
          <a:xfrm>
            <a:off x="457200" y="2167128"/>
            <a:ext cx="5500116" cy="868680"/>
          </a:xfrm>
          <a:prstGeom prst="roundRect">
            <a:avLst>
              <a:gd name="adj" fmla="val 8421"/>
            </a:avLst>
          </a:prstGeom>
          <a:solidFill>
            <a:srgbClr val="E1F1EF"/>
          </a:solidFill>
          <a:ln/>
        </p:spPr>
        <p:txBody>
          <a:bodyPr/>
          <a:lstStyle/>
          <a:p>
            <a:endParaRPr lang="en-US"/>
          </a:p>
        </p:txBody>
      </p:sp>
      <p:sp>
        <p:nvSpPr>
          <p:cNvPr id="10" name="Text 8"/>
          <p:cNvSpPr/>
          <p:nvPr/>
        </p:nvSpPr>
        <p:spPr>
          <a:xfrm>
            <a:off x="685800" y="2276856"/>
            <a:ext cx="5042916" cy="292608"/>
          </a:xfrm>
          <a:prstGeom prst="rect">
            <a:avLst/>
          </a:prstGeom>
          <a:noFill/>
          <a:ln/>
        </p:spPr>
        <p:txBody>
          <a:bodyPr wrap="square" lIns="0" tIns="0" rIns="0" bIns="0" rtlCol="0" anchor="ctr"/>
          <a:lstStyle/>
          <a:p>
            <a:pPr marL="0" indent="0">
              <a:buNone/>
            </a:pPr>
            <a:r>
              <a:rPr lang="en-US" sz="1250" b="1" dirty="0">
                <a:solidFill>
                  <a:srgbClr val="0B7A5B"/>
                </a:solidFill>
                <a:latin typeface="Calibri" pitchFamily="34" charset="0"/>
                <a:ea typeface="Calibri" pitchFamily="34" charset="-122"/>
                <a:cs typeface="Calibri" pitchFamily="34" charset="-120"/>
              </a:rPr>
              <a:t>Có đủ context →</a:t>
            </a:r>
            <a:endParaRPr lang="en-US" sz="1250" dirty="0"/>
          </a:p>
        </p:txBody>
      </p:sp>
      <p:sp>
        <p:nvSpPr>
          <p:cNvPr id="11" name="Text 9"/>
          <p:cNvSpPr/>
          <p:nvPr/>
        </p:nvSpPr>
        <p:spPr>
          <a:xfrm>
            <a:off x="685800" y="2587752"/>
            <a:ext cx="5042916" cy="384048"/>
          </a:xfrm>
          <a:prstGeom prst="rect">
            <a:avLst/>
          </a:prstGeom>
          <a:noFill/>
          <a:ln/>
        </p:spPr>
        <p:txBody>
          <a:bodyPr wrap="square" lIns="0" tIns="0" rIns="0" bIns="0" rtlCol="0" anchor="ctr"/>
          <a:lstStyle/>
          <a:p>
            <a:pPr marL="0" indent="0">
              <a:buNone/>
            </a:pPr>
            <a:r>
              <a:rPr lang="en-US" sz="1450" b="1" dirty="0">
                <a:solidFill>
                  <a:srgbClr val="10302D"/>
                </a:solidFill>
                <a:latin typeface="Calibri" pitchFamily="34" charset="0"/>
                <a:ea typeface="Calibri" pitchFamily="34" charset="-122"/>
                <a:cs typeface="Calibri" pitchFamily="34" charset="-120"/>
              </a:rPr>
              <a:t>Trả lời + citation</a:t>
            </a:r>
            <a:endParaRPr lang="en-US" sz="1450" dirty="0"/>
          </a:p>
        </p:txBody>
      </p:sp>
      <p:sp>
        <p:nvSpPr>
          <p:cNvPr id="12" name="Shape 10"/>
          <p:cNvSpPr/>
          <p:nvPr/>
        </p:nvSpPr>
        <p:spPr>
          <a:xfrm>
            <a:off x="6231636" y="2167128"/>
            <a:ext cx="5500116" cy="868680"/>
          </a:xfrm>
          <a:prstGeom prst="roundRect">
            <a:avLst>
              <a:gd name="adj" fmla="val 8421"/>
            </a:avLst>
          </a:prstGeom>
          <a:solidFill>
            <a:srgbClr val="FDF3E4"/>
          </a:solidFill>
          <a:ln/>
        </p:spPr>
        <p:txBody>
          <a:bodyPr/>
          <a:lstStyle/>
          <a:p>
            <a:endParaRPr lang="en-US"/>
          </a:p>
        </p:txBody>
      </p:sp>
      <p:sp>
        <p:nvSpPr>
          <p:cNvPr id="13" name="Text 11"/>
          <p:cNvSpPr/>
          <p:nvPr/>
        </p:nvSpPr>
        <p:spPr>
          <a:xfrm>
            <a:off x="6460236" y="2276856"/>
            <a:ext cx="5042916" cy="292608"/>
          </a:xfrm>
          <a:prstGeom prst="rect">
            <a:avLst/>
          </a:prstGeom>
          <a:noFill/>
          <a:ln/>
        </p:spPr>
        <p:txBody>
          <a:bodyPr wrap="square" lIns="0" tIns="0" rIns="0" bIns="0" rtlCol="0" anchor="ctr"/>
          <a:lstStyle/>
          <a:p>
            <a:pPr marL="0" indent="0">
              <a:buNone/>
            </a:pPr>
            <a:r>
              <a:rPr lang="en-US" sz="1250" b="1" dirty="0">
                <a:solidFill>
                  <a:srgbClr val="D98C1F"/>
                </a:solidFill>
                <a:latin typeface="Calibri" pitchFamily="34" charset="0"/>
                <a:ea typeface="Calibri" pitchFamily="34" charset="-122"/>
                <a:cs typeface="Calibri" pitchFamily="34" charset="-120"/>
              </a:rPr>
              <a:t>Không đủ context →</a:t>
            </a:r>
            <a:endParaRPr lang="en-US" sz="1250" dirty="0"/>
          </a:p>
        </p:txBody>
      </p:sp>
      <p:sp>
        <p:nvSpPr>
          <p:cNvPr id="14" name="Text 12"/>
          <p:cNvSpPr/>
          <p:nvPr/>
        </p:nvSpPr>
        <p:spPr>
          <a:xfrm>
            <a:off x="6460236" y="2587752"/>
            <a:ext cx="5042916" cy="411480"/>
          </a:xfrm>
          <a:prstGeom prst="rect">
            <a:avLst/>
          </a:prstGeom>
          <a:noFill/>
          <a:ln/>
        </p:spPr>
        <p:txBody>
          <a:bodyPr wrap="square" lIns="0" tIns="0" rIns="0" bIns="0" rtlCol="0" anchor="ctr"/>
          <a:lstStyle/>
          <a:p>
            <a:pPr marL="0" indent="0">
              <a:buNone/>
            </a:pPr>
            <a:r>
              <a:rPr lang="en-US" sz="1300" b="1" dirty="0">
                <a:solidFill>
                  <a:srgbClr val="10302D"/>
                </a:solidFill>
                <a:latin typeface="Calibri" pitchFamily="34" charset="0"/>
                <a:ea typeface="Calibri" pitchFamily="34" charset="-122"/>
                <a:cs typeface="Calibri" pitchFamily="34" charset="-120"/>
              </a:rPr>
              <a:t>Nói rõ không có căn cứ, hoặc fallback Internet</a:t>
            </a:r>
            <a:endParaRPr lang="en-US" sz="1300" dirty="0"/>
          </a:p>
        </p:txBody>
      </p:sp>
      <p:sp>
        <p:nvSpPr>
          <p:cNvPr id="15" name="Shape 13"/>
          <p:cNvSpPr/>
          <p:nvPr/>
        </p:nvSpPr>
        <p:spPr>
          <a:xfrm>
            <a:off x="457200" y="3236976"/>
            <a:ext cx="11274552" cy="566928"/>
          </a:xfrm>
          <a:prstGeom prst="roundRect">
            <a:avLst>
              <a:gd name="adj" fmla="val 12903"/>
            </a:avLst>
          </a:prstGeom>
          <a:solidFill>
            <a:srgbClr val="FBECEC"/>
          </a:solidFill>
          <a:ln/>
        </p:spPr>
        <p:txBody>
          <a:bodyPr/>
          <a:lstStyle/>
          <a:p>
            <a:endParaRPr lang="en-US"/>
          </a:p>
        </p:txBody>
      </p:sp>
      <p:sp>
        <p:nvSpPr>
          <p:cNvPr id="16" name="Text 14"/>
          <p:cNvSpPr/>
          <p:nvPr/>
        </p:nvSpPr>
        <p:spPr>
          <a:xfrm>
            <a:off x="731520" y="3236976"/>
            <a:ext cx="10725912" cy="566928"/>
          </a:xfrm>
          <a:prstGeom prst="rect">
            <a:avLst/>
          </a:prstGeom>
          <a:noFill/>
          <a:ln/>
        </p:spPr>
        <p:txBody>
          <a:bodyPr wrap="square" lIns="0" tIns="0" rIns="0" bIns="0" rtlCol="0" anchor="ctr"/>
          <a:lstStyle/>
          <a:p>
            <a:pPr marL="0" indent="0">
              <a:buNone/>
            </a:pPr>
            <a:r>
              <a:rPr lang="en-US" sz="1300" b="1" dirty="0">
                <a:solidFill>
                  <a:srgbClr val="C0483F"/>
                </a:solidFill>
                <a:latin typeface="Calibri" pitchFamily="34" charset="0"/>
                <a:ea typeface="Calibri" pitchFamily="34" charset="-122"/>
                <a:cs typeface="Calibri" pitchFamily="34" charset="-120"/>
              </a:rPr>
              <a:t>Cost of error:  </a:t>
            </a:r>
            <a:r>
              <a:rPr lang="en-US" sz="1300" dirty="0">
                <a:solidFill>
                  <a:srgbClr val="9C3B3B"/>
                </a:solidFill>
                <a:latin typeface="Calibri" pitchFamily="34" charset="0"/>
                <a:ea typeface="Calibri" pitchFamily="34" charset="-122"/>
                <a:cs typeface="Calibri" pitchFamily="34" charset="-120"/>
              </a:rPr>
              <a:t>Nếu AI trả lời sai hoặc bịa citation → người học học sai kiến thức.</a:t>
            </a:r>
            <a:endParaRPr lang="en-US" sz="1300" dirty="0"/>
          </a:p>
        </p:txBody>
      </p:sp>
      <p:sp>
        <p:nvSpPr>
          <p:cNvPr id="17" name="Text 15"/>
          <p:cNvSpPr/>
          <p:nvPr/>
        </p:nvSpPr>
        <p:spPr>
          <a:xfrm>
            <a:off x="457200" y="4005072"/>
            <a:ext cx="3657600" cy="274320"/>
          </a:xfrm>
          <a:prstGeom prst="rect">
            <a:avLst/>
          </a:prstGeom>
          <a:noFill/>
          <a:ln/>
        </p:spPr>
        <p:txBody>
          <a:bodyPr wrap="square" lIns="0" tIns="0" rIns="0" bIns="0"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DEMO LIVE</a:t>
            </a:r>
            <a:endParaRPr lang="en-US" sz="1100" dirty="0"/>
          </a:p>
        </p:txBody>
      </p:sp>
      <p:sp>
        <p:nvSpPr>
          <p:cNvPr id="18" name="Shape 16"/>
          <p:cNvSpPr/>
          <p:nvPr/>
        </p:nvSpPr>
        <p:spPr>
          <a:xfrm>
            <a:off x="457200" y="4325112"/>
            <a:ext cx="5500116" cy="2167128"/>
          </a:xfrm>
          <a:prstGeom prst="roundRect">
            <a:avLst>
              <a:gd name="adj" fmla="val 4219"/>
            </a:avLst>
          </a:prstGeom>
          <a:solidFill>
            <a:srgbClr val="EDF7F6"/>
          </a:solidFill>
          <a:ln/>
        </p:spPr>
        <p:txBody>
          <a:bodyPr/>
          <a:lstStyle/>
          <a:p>
            <a:endParaRPr lang="en-US"/>
          </a:p>
        </p:txBody>
      </p:sp>
      <p:sp>
        <p:nvSpPr>
          <p:cNvPr id="19" name="Text 17"/>
          <p:cNvSpPr/>
          <p:nvPr/>
        </p:nvSpPr>
        <p:spPr>
          <a:xfrm>
            <a:off x="685800" y="4489704"/>
            <a:ext cx="5042916" cy="292608"/>
          </a:xfrm>
          <a:prstGeom prst="rect">
            <a:avLst/>
          </a:prstGeom>
          <a:noFill/>
          <a:ln/>
        </p:spPr>
        <p:txBody>
          <a:bodyPr wrap="square" lIns="0" tIns="0" rIns="0" bIns="0" rtlCol="0" anchor="ctr"/>
          <a:lstStyle/>
          <a:p>
            <a:pPr marL="0" indent="0">
              <a:buNone/>
            </a:pPr>
            <a:r>
              <a:rPr lang="en-US" sz="1300" b="1" dirty="0">
                <a:solidFill>
                  <a:srgbClr val="0B7A5B"/>
                </a:solidFill>
                <a:latin typeface="Calibri" pitchFamily="34" charset="0"/>
                <a:ea typeface="Calibri" pitchFamily="34" charset="-122"/>
                <a:cs typeface="Calibri" pitchFamily="34" charset="-120"/>
              </a:rPr>
              <a:t>Case 1 · Happy path</a:t>
            </a:r>
            <a:endParaRPr lang="en-US" sz="1300" dirty="0"/>
          </a:p>
        </p:txBody>
      </p:sp>
      <p:sp>
        <p:nvSpPr>
          <p:cNvPr id="20" name="Shape 18"/>
          <p:cNvSpPr/>
          <p:nvPr/>
        </p:nvSpPr>
        <p:spPr>
          <a:xfrm>
            <a:off x="685800" y="4892040"/>
            <a:ext cx="237744" cy="237744"/>
          </a:xfrm>
          <a:prstGeom prst="ellipse">
            <a:avLst/>
          </a:prstGeom>
          <a:solidFill>
            <a:srgbClr val="02C39A"/>
          </a:solidFill>
          <a:ln/>
        </p:spPr>
        <p:txBody>
          <a:bodyPr/>
          <a:lstStyle/>
          <a:p>
            <a:endParaRPr lang="en-US"/>
          </a:p>
        </p:txBody>
      </p:sp>
      <p:sp>
        <p:nvSpPr>
          <p:cNvPr id="21" name="Text 19"/>
          <p:cNvSpPr/>
          <p:nvPr/>
        </p:nvSpPr>
        <p:spPr>
          <a:xfrm>
            <a:off x="685800" y="4892040"/>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22" name="Text 20"/>
          <p:cNvSpPr/>
          <p:nvPr/>
        </p:nvSpPr>
        <p:spPr>
          <a:xfrm>
            <a:off x="1024128" y="4864608"/>
            <a:ext cx="4677156" cy="292608"/>
          </a:xfrm>
          <a:prstGeom prst="rect">
            <a:avLst/>
          </a:prstGeom>
          <a:noFill/>
          <a:ln/>
        </p:spPr>
        <p:txBody>
          <a:bodyPr wrap="square" lIns="0" tIns="0" rIns="0" bIns="0" rtlCol="0" anchor="ctr"/>
          <a:lstStyle/>
          <a:p>
            <a:pPr marL="0" indent="0">
              <a:buNone/>
            </a:pPr>
            <a:r>
              <a:rPr lang="en-US" sz="1250" dirty="0">
                <a:solidFill>
                  <a:srgbClr val="10302D"/>
                </a:solidFill>
                <a:latin typeface="Calibri" pitchFamily="34" charset="0"/>
                <a:ea typeface="Calibri" pitchFamily="34" charset="-122"/>
                <a:cs typeface="Calibri" pitchFamily="34" charset="-120"/>
              </a:rPr>
              <a:t>Upload slide</a:t>
            </a:r>
            <a:endParaRPr lang="en-US" sz="1250" dirty="0"/>
          </a:p>
        </p:txBody>
      </p:sp>
      <p:sp>
        <p:nvSpPr>
          <p:cNvPr id="23" name="Shape 21"/>
          <p:cNvSpPr/>
          <p:nvPr/>
        </p:nvSpPr>
        <p:spPr>
          <a:xfrm>
            <a:off x="685800" y="5276088"/>
            <a:ext cx="237744" cy="237744"/>
          </a:xfrm>
          <a:prstGeom prst="ellipse">
            <a:avLst/>
          </a:prstGeom>
          <a:solidFill>
            <a:srgbClr val="02C39A"/>
          </a:solidFill>
          <a:ln/>
        </p:spPr>
        <p:txBody>
          <a:bodyPr/>
          <a:lstStyle/>
          <a:p>
            <a:endParaRPr lang="en-US"/>
          </a:p>
        </p:txBody>
      </p:sp>
      <p:sp>
        <p:nvSpPr>
          <p:cNvPr id="24" name="Text 22"/>
          <p:cNvSpPr/>
          <p:nvPr/>
        </p:nvSpPr>
        <p:spPr>
          <a:xfrm>
            <a:off x="685800" y="5276088"/>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25" name="Text 23"/>
          <p:cNvSpPr/>
          <p:nvPr/>
        </p:nvSpPr>
        <p:spPr>
          <a:xfrm>
            <a:off x="1024128" y="5248656"/>
            <a:ext cx="4677156" cy="292608"/>
          </a:xfrm>
          <a:prstGeom prst="rect">
            <a:avLst/>
          </a:prstGeom>
          <a:noFill/>
          <a:ln/>
        </p:spPr>
        <p:txBody>
          <a:bodyPr wrap="square" lIns="0" tIns="0" rIns="0" bIns="0" rtlCol="0" anchor="ctr"/>
          <a:lstStyle/>
          <a:p>
            <a:pPr marL="0" indent="0">
              <a:buNone/>
            </a:pPr>
            <a:r>
              <a:rPr lang="en-US" sz="1250" dirty="0">
                <a:solidFill>
                  <a:srgbClr val="10302D"/>
                </a:solidFill>
                <a:latin typeface="Calibri" pitchFamily="34" charset="0"/>
                <a:ea typeface="Calibri" pitchFamily="34" charset="-122"/>
                <a:cs typeface="Calibri" pitchFamily="34" charset="-120"/>
              </a:rPr>
              <a:t>Chọn "Toàn bộ file"</a:t>
            </a:r>
            <a:endParaRPr lang="en-US" sz="1250" dirty="0"/>
          </a:p>
        </p:txBody>
      </p:sp>
      <p:sp>
        <p:nvSpPr>
          <p:cNvPr id="26" name="Shape 24"/>
          <p:cNvSpPr/>
          <p:nvPr/>
        </p:nvSpPr>
        <p:spPr>
          <a:xfrm>
            <a:off x="685800" y="5660136"/>
            <a:ext cx="237744" cy="237744"/>
          </a:xfrm>
          <a:prstGeom prst="ellipse">
            <a:avLst/>
          </a:prstGeom>
          <a:solidFill>
            <a:srgbClr val="02C39A"/>
          </a:solidFill>
          <a:ln/>
        </p:spPr>
        <p:txBody>
          <a:bodyPr/>
          <a:lstStyle/>
          <a:p>
            <a:endParaRPr lang="en-US"/>
          </a:p>
        </p:txBody>
      </p:sp>
      <p:sp>
        <p:nvSpPr>
          <p:cNvPr id="27" name="Text 25"/>
          <p:cNvSpPr/>
          <p:nvPr/>
        </p:nvSpPr>
        <p:spPr>
          <a:xfrm>
            <a:off x="685800" y="5660136"/>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28" name="Text 26"/>
          <p:cNvSpPr/>
          <p:nvPr/>
        </p:nvSpPr>
        <p:spPr>
          <a:xfrm>
            <a:off x="1024128" y="5632704"/>
            <a:ext cx="4677156" cy="292608"/>
          </a:xfrm>
          <a:prstGeom prst="rect">
            <a:avLst/>
          </a:prstGeom>
          <a:noFill/>
          <a:ln/>
        </p:spPr>
        <p:txBody>
          <a:bodyPr wrap="square" lIns="0" tIns="0" rIns="0" bIns="0" rtlCol="0" anchor="ctr"/>
          <a:lstStyle/>
          <a:p>
            <a:pPr marL="0" indent="0">
              <a:buNone/>
            </a:pPr>
            <a:r>
              <a:rPr lang="en-US" sz="1250" dirty="0">
                <a:solidFill>
                  <a:srgbClr val="10302D"/>
                </a:solidFill>
                <a:latin typeface="Calibri" pitchFamily="34" charset="0"/>
                <a:ea typeface="Calibri" pitchFamily="34" charset="-122"/>
                <a:cs typeface="Calibri" pitchFamily="34" charset="-120"/>
              </a:rPr>
              <a:t>Hỏi</a:t>
            </a:r>
            <a:endParaRPr lang="en-US" sz="1250" dirty="0"/>
          </a:p>
        </p:txBody>
      </p:sp>
      <p:sp>
        <p:nvSpPr>
          <p:cNvPr id="29" name="Shape 27"/>
          <p:cNvSpPr/>
          <p:nvPr/>
        </p:nvSpPr>
        <p:spPr>
          <a:xfrm>
            <a:off x="685800" y="6044184"/>
            <a:ext cx="237744" cy="237744"/>
          </a:xfrm>
          <a:prstGeom prst="ellipse">
            <a:avLst/>
          </a:prstGeom>
          <a:solidFill>
            <a:srgbClr val="02C39A"/>
          </a:solidFill>
          <a:ln/>
        </p:spPr>
        <p:txBody>
          <a:bodyPr/>
          <a:lstStyle/>
          <a:p>
            <a:endParaRPr lang="en-US"/>
          </a:p>
        </p:txBody>
      </p:sp>
      <p:sp>
        <p:nvSpPr>
          <p:cNvPr id="30" name="Text 28"/>
          <p:cNvSpPr/>
          <p:nvPr/>
        </p:nvSpPr>
        <p:spPr>
          <a:xfrm>
            <a:off x="685800" y="6044184"/>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31" name="Text 29"/>
          <p:cNvSpPr/>
          <p:nvPr/>
        </p:nvSpPr>
        <p:spPr>
          <a:xfrm>
            <a:off x="1024128" y="6016752"/>
            <a:ext cx="4677156" cy="292608"/>
          </a:xfrm>
          <a:prstGeom prst="rect">
            <a:avLst/>
          </a:prstGeom>
          <a:noFill/>
          <a:ln/>
        </p:spPr>
        <p:txBody>
          <a:bodyPr wrap="square" lIns="0" tIns="0" rIns="0" bIns="0" rtlCol="0" anchor="ctr"/>
          <a:lstStyle/>
          <a:p>
            <a:pPr marL="0" indent="0">
              <a:buNone/>
            </a:pPr>
            <a:r>
              <a:rPr lang="en-US" sz="1250" dirty="0">
                <a:solidFill>
                  <a:srgbClr val="10302D"/>
                </a:solidFill>
                <a:latin typeface="Calibri" pitchFamily="34" charset="0"/>
                <a:ea typeface="Calibri" pitchFamily="34" charset="-122"/>
                <a:cs typeface="Calibri" pitchFamily="34" charset="-120"/>
              </a:rPr>
              <a:t>AI trả lời + citation</a:t>
            </a:r>
            <a:endParaRPr lang="en-US" sz="1250" dirty="0"/>
          </a:p>
        </p:txBody>
      </p:sp>
      <p:sp>
        <p:nvSpPr>
          <p:cNvPr id="32" name="Shape 30"/>
          <p:cNvSpPr/>
          <p:nvPr/>
        </p:nvSpPr>
        <p:spPr>
          <a:xfrm>
            <a:off x="6231636" y="4325112"/>
            <a:ext cx="5500116" cy="2167128"/>
          </a:xfrm>
          <a:prstGeom prst="roundRect">
            <a:avLst>
              <a:gd name="adj" fmla="val 4219"/>
            </a:avLst>
          </a:prstGeom>
          <a:solidFill>
            <a:srgbClr val="FDF3E4"/>
          </a:solidFill>
          <a:ln/>
        </p:spPr>
        <p:txBody>
          <a:bodyPr/>
          <a:lstStyle/>
          <a:p>
            <a:endParaRPr lang="en-US"/>
          </a:p>
        </p:txBody>
      </p:sp>
      <p:sp>
        <p:nvSpPr>
          <p:cNvPr id="33" name="Text 31"/>
          <p:cNvSpPr/>
          <p:nvPr/>
        </p:nvSpPr>
        <p:spPr>
          <a:xfrm>
            <a:off x="6460236" y="4489704"/>
            <a:ext cx="5042916" cy="292608"/>
          </a:xfrm>
          <a:prstGeom prst="rect">
            <a:avLst/>
          </a:prstGeom>
          <a:noFill/>
          <a:ln/>
        </p:spPr>
        <p:txBody>
          <a:bodyPr wrap="square" lIns="0" tIns="0" rIns="0" bIns="0" rtlCol="0" anchor="ctr"/>
          <a:lstStyle/>
          <a:p>
            <a:pPr marL="0" indent="0">
              <a:buNone/>
            </a:pPr>
            <a:r>
              <a:rPr lang="en-US" sz="1300" b="1" dirty="0">
                <a:solidFill>
                  <a:srgbClr val="D98C1F"/>
                </a:solidFill>
                <a:latin typeface="Calibri" pitchFamily="34" charset="0"/>
                <a:ea typeface="Calibri" pitchFamily="34" charset="-122"/>
                <a:cs typeface="Calibri" pitchFamily="34" charset="-120"/>
              </a:rPr>
              <a:t>Case 2 · Hard case</a:t>
            </a:r>
            <a:endParaRPr lang="en-US" sz="1300" dirty="0"/>
          </a:p>
        </p:txBody>
      </p:sp>
      <p:sp>
        <p:nvSpPr>
          <p:cNvPr id="34" name="Text 32"/>
          <p:cNvSpPr/>
          <p:nvPr/>
        </p:nvSpPr>
        <p:spPr>
          <a:xfrm>
            <a:off x="6460236" y="4873752"/>
            <a:ext cx="5042916" cy="347472"/>
          </a:xfrm>
          <a:prstGeom prst="rect">
            <a:avLst/>
          </a:prstGeom>
          <a:noFill/>
          <a:ln/>
        </p:spPr>
        <p:txBody>
          <a:bodyPr wrap="square" lIns="0" tIns="0" rIns="0" bIns="0" rtlCol="0" anchor="ctr"/>
          <a:lstStyle/>
          <a:p>
            <a:pPr marL="0" indent="0">
              <a:buNone/>
            </a:pPr>
            <a:r>
              <a:rPr lang="en-US" sz="1250" dirty="0">
                <a:solidFill>
                  <a:srgbClr val="10302D"/>
                </a:solidFill>
                <a:latin typeface="Calibri" pitchFamily="34" charset="0"/>
                <a:ea typeface="Calibri" pitchFamily="34" charset="-122"/>
                <a:cs typeface="Calibri" pitchFamily="34" charset="-120"/>
              </a:rPr>
              <a:t>Hỏi nội dung không có trong slide</a:t>
            </a:r>
            <a:endParaRPr lang="en-US" sz="1250" dirty="0"/>
          </a:p>
        </p:txBody>
      </p:sp>
      <p:sp>
        <p:nvSpPr>
          <p:cNvPr id="35" name="Text 33"/>
          <p:cNvSpPr/>
          <p:nvPr/>
        </p:nvSpPr>
        <p:spPr>
          <a:xfrm>
            <a:off x="6460236" y="5257800"/>
            <a:ext cx="5042916" cy="274320"/>
          </a:xfrm>
          <a:prstGeom prst="rect">
            <a:avLst/>
          </a:prstGeom>
          <a:noFill/>
          <a:ln/>
        </p:spPr>
        <p:txBody>
          <a:bodyPr wrap="square" lIns="0" tIns="0" rIns="0" bIns="0" rtlCol="0" anchor="ctr"/>
          <a:lstStyle/>
          <a:p>
            <a:pPr marL="0" indent="0">
              <a:buNone/>
            </a:pPr>
            <a:r>
              <a:rPr lang="en-US" sz="1200" i="1" dirty="0">
                <a:solidFill>
                  <a:srgbClr val="56736F"/>
                </a:solidFill>
                <a:latin typeface="Calibri" pitchFamily="34" charset="0"/>
                <a:ea typeface="Calibri" pitchFamily="34" charset="-122"/>
                <a:cs typeface="Calibri" pitchFamily="34" charset="-120"/>
              </a:rPr>
              <a:t>↓  AI trả lời:</a:t>
            </a:r>
            <a:endParaRPr lang="en-US" sz="1200" dirty="0"/>
          </a:p>
        </p:txBody>
      </p:sp>
      <p:sp>
        <p:nvSpPr>
          <p:cNvPr id="36" name="Text 34"/>
          <p:cNvSpPr/>
          <p:nvPr/>
        </p:nvSpPr>
        <p:spPr>
          <a:xfrm>
            <a:off x="6460236" y="5532120"/>
            <a:ext cx="5042916" cy="640080"/>
          </a:xfrm>
          <a:prstGeom prst="rect">
            <a:avLst/>
          </a:prstGeom>
          <a:noFill/>
          <a:ln/>
        </p:spPr>
        <p:txBody>
          <a:bodyPr wrap="square" lIns="0" tIns="0" rIns="0" bIns="0" rtlCol="0" anchor="ctr"/>
          <a:lstStyle/>
          <a:p>
            <a:pPr marL="0" indent="0">
              <a:lnSpc>
                <a:spcPct val="110000"/>
              </a:lnSpc>
              <a:buNone/>
            </a:pPr>
            <a:r>
              <a:rPr lang="en-US" sz="1250" b="1" dirty="0">
                <a:solidFill>
                  <a:srgbClr val="10302D"/>
                </a:solidFill>
                <a:latin typeface="Calibri" pitchFamily="34" charset="0"/>
                <a:ea typeface="Calibri" pitchFamily="34" charset="-122"/>
                <a:cs typeface="Calibri" pitchFamily="34" charset="-120"/>
              </a:rPr>
              <a:t>"Không thể kết luận từ học liệu" hoặc "Đây là câu trả lời từ Internet."</a:t>
            </a:r>
            <a:endParaRPr lang="en-US" sz="1250" dirty="0"/>
          </a:p>
        </p:txBody>
      </p:sp>
      <p:sp>
        <p:nvSpPr>
          <p:cNvPr id="37" name="Text 35"/>
          <p:cNvSpPr/>
          <p:nvPr/>
        </p:nvSpPr>
        <p:spPr>
          <a:xfrm>
            <a:off x="6460236" y="6108192"/>
            <a:ext cx="5042916" cy="274320"/>
          </a:xfrm>
          <a:prstGeom prst="rect">
            <a:avLst/>
          </a:prstGeom>
          <a:noFill/>
          <a:ln/>
        </p:spPr>
        <p:txBody>
          <a:bodyPr wrap="square" lIns="0" tIns="0" rIns="0" bIns="0" rtlCol="0" anchor="ctr"/>
          <a:lstStyle/>
          <a:p>
            <a:pPr marL="0" indent="0">
              <a:buNone/>
            </a:pPr>
            <a:r>
              <a:rPr lang="en-US" sz="1200" b="1" dirty="0">
                <a:solidFill>
                  <a:srgbClr val="C0483F"/>
                </a:solidFill>
                <a:latin typeface="Calibri" pitchFamily="34" charset="0"/>
                <a:ea typeface="Calibri" pitchFamily="34" charset="-122"/>
                <a:cs typeface="Calibri" pitchFamily="34" charset="-120"/>
              </a:rPr>
              <a:t>Không bịa citation.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028090"/>
          </a:solidFill>
          <a:ln/>
        </p:spPr>
        <p:txBody>
          <a:bodyPr/>
          <a:lstStyle/>
          <a:p>
            <a:endParaRPr lang="en-US"/>
          </a:p>
        </p:txBody>
      </p:sp>
      <p:sp>
        <p:nvSpPr>
          <p:cNvPr id="3" name="Text 1"/>
          <p:cNvSpPr/>
          <p:nvPr/>
        </p:nvSpPr>
        <p:spPr>
          <a:xfrm>
            <a:off x="457200" y="3840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4" name="Text 2"/>
          <p:cNvSpPr/>
          <p:nvPr/>
        </p:nvSpPr>
        <p:spPr>
          <a:xfrm>
            <a:off x="1143000" y="347472"/>
            <a:ext cx="10588752" cy="594360"/>
          </a:xfrm>
          <a:prstGeom prst="rect">
            <a:avLst/>
          </a:prstGeom>
          <a:noFill/>
          <a:ln/>
        </p:spPr>
        <p:txBody>
          <a:bodyPr wrap="square" lIns="0" tIns="0" rIns="0" bIns="0" rtlCol="0" anchor="ctr"/>
          <a:lstStyle/>
          <a:p>
            <a:pPr marL="0" indent="0">
              <a:buNone/>
            </a:pPr>
            <a:r>
              <a:rPr lang="en-US" sz="3200" b="1" dirty="0">
                <a:solidFill>
                  <a:srgbClr val="10302D"/>
                </a:solidFill>
                <a:latin typeface="Cambria" pitchFamily="34" charset="0"/>
                <a:ea typeface="Cambria" pitchFamily="34" charset="-122"/>
                <a:cs typeface="Cambria" pitchFamily="34" charset="-120"/>
              </a:rPr>
              <a:t>Kết quả đo</a:t>
            </a:r>
            <a:endParaRPr lang="en-US" sz="3200" dirty="0"/>
          </a:p>
        </p:txBody>
      </p:sp>
      <p:sp>
        <p:nvSpPr>
          <p:cNvPr id="5" name="Shape 3"/>
          <p:cNvSpPr/>
          <p:nvPr/>
        </p:nvSpPr>
        <p:spPr>
          <a:xfrm>
            <a:off x="457200" y="1280160"/>
            <a:ext cx="5394960" cy="1828800"/>
          </a:xfrm>
          <a:prstGeom prst="roundRect">
            <a:avLst>
              <a:gd name="adj" fmla="val 5000"/>
            </a:avLst>
          </a:prstGeom>
          <a:solidFill>
            <a:srgbClr val="EDF7F6"/>
          </a:solidFill>
          <a:ln/>
        </p:spPr>
        <p:txBody>
          <a:bodyPr/>
          <a:lstStyle/>
          <a:p>
            <a:endParaRPr lang="en-US"/>
          </a:p>
        </p:txBody>
      </p:sp>
      <p:sp>
        <p:nvSpPr>
          <p:cNvPr id="6" name="Text 4"/>
          <p:cNvSpPr/>
          <p:nvPr/>
        </p:nvSpPr>
        <p:spPr>
          <a:xfrm>
            <a:off x="731520" y="1481328"/>
            <a:ext cx="4572000" cy="274320"/>
          </a:xfrm>
          <a:prstGeom prst="rect">
            <a:avLst/>
          </a:prstGeom>
          <a:noFill/>
          <a:ln/>
        </p:spPr>
        <p:txBody>
          <a:bodyPr wrap="square" lIns="0" tIns="0" rIns="0" bIns="0"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GOLDEN SET · QUALITY BAR</a:t>
            </a:r>
            <a:endParaRPr lang="en-US" sz="1100" dirty="0"/>
          </a:p>
        </p:txBody>
      </p:sp>
      <p:sp>
        <p:nvSpPr>
          <p:cNvPr id="7" name="Shape 5"/>
          <p:cNvSpPr/>
          <p:nvPr/>
        </p:nvSpPr>
        <p:spPr>
          <a:xfrm>
            <a:off x="731520" y="1901952"/>
            <a:ext cx="256032" cy="256032"/>
          </a:xfrm>
          <a:prstGeom prst="ellipse">
            <a:avLst/>
          </a:prstGeom>
          <a:solidFill>
            <a:srgbClr val="02C39A"/>
          </a:solidFill>
          <a:ln/>
        </p:spPr>
        <p:txBody>
          <a:bodyPr/>
          <a:lstStyle/>
          <a:p>
            <a:endParaRPr lang="en-US"/>
          </a:p>
        </p:txBody>
      </p:sp>
      <p:sp>
        <p:nvSpPr>
          <p:cNvPr id="8" name="Text 6"/>
          <p:cNvSpPr/>
          <p:nvPr/>
        </p:nvSpPr>
        <p:spPr>
          <a:xfrm>
            <a:off x="731520" y="190195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9" name="Text 7"/>
          <p:cNvSpPr/>
          <p:nvPr/>
        </p:nvSpPr>
        <p:spPr>
          <a:xfrm>
            <a:off x="1115568" y="1874520"/>
            <a:ext cx="4480560" cy="320040"/>
          </a:xfrm>
          <a:prstGeom prst="rect">
            <a:avLst/>
          </a:prstGeom>
          <a:noFill/>
          <a:ln/>
        </p:spPr>
        <p:txBody>
          <a:bodyPr wrap="square" lIns="0" tIns="0" rIns="0" bIns="0" rtlCol="0" anchor="ctr"/>
          <a:lstStyle/>
          <a:p>
            <a:pPr marL="0" indent="0">
              <a:buNone/>
            </a:pPr>
            <a:r>
              <a:rPr lang="en-US" sz="1350" dirty="0">
                <a:solidFill>
                  <a:srgbClr val="10302D"/>
                </a:solidFill>
                <a:latin typeface="Calibri" pitchFamily="34" charset="0"/>
                <a:ea typeface="Calibri" pitchFamily="34" charset="-122"/>
                <a:cs typeface="Calibri" pitchFamily="34" charset="-120"/>
              </a:rPr>
              <a:t>≥ 90% pass</a:t>
            </a:r>
            <a:endParaRPr lang="en-US" sz="1350" dirty="0"/>
          </a:p>
        </p:txBody>
      </p:sp>
      <p:sp>
        <p:nvSpPr>
          <p:cNvPr id="10" name="Shape 8"/>
          <p:cNvSpPr/>
          <p:nvPr/>
        </p:nvSpPr>
        <p:spPr>
          <a:xfrm>
            <a:off x="731520" y="2286000"/>
            <a:ext cx="256032" cy="256032"/>
          </a:xfrm>
          <a:prstGeom prst="ellipse">
            <a:avLst/>
          </a:prstGeom>
          <a:solidFill>
            <a:srgbClr val="02C39A"/>
          </a:solidFill>
          <a:ln/>
        </p:spPr>
        <p:txBody>
          <a:bodyPr/>
          <a:lstStyle/>
          <a:p>
            <a:endParaRPr lang="en-US"/>
          </a:p>
        </p:txBody>
      </p:sp>
      <p:sp>
        <p:nvSpPr>
          <p:cNvPr id="11" name="Text 9"/>
          <p:cNvSpPr/>
          <p:nvPr/>
        </p:nvSpPr>
        <p:spPr>
          <a:xfrm>
            <a:off x="731520" y="228600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12" name="Text 10"/>
          <p:cNvSpPr/>
          <p:nvPr/>
        </p:nvSpPr>
        <p:spPr>
          <a:xfrm>
            <a:off x="1115568" y="2258568"/>
            <a:ext cx="4480560" cy="320040"/>
          </a:xfrm>
          <a:prstGeom prst="rect">
            <a:avLst/>
          </a:prstGeom>
          <a:noFill/>
          <a:ln/>
        </p:spPr>
        <p:txBody>
          <a:bodyPr wrap="square" lIns="0" tIns="0" rIns="0" bIns="0" rtlCol="0" anchor="ctr"/>
          <a:lstStyle/>
          <a:p>
            <a:pPr marL="0" indent="0">
              <a:buNone/>
            </a:pPr>
            <a:r>
              <a:rPr lang="en-US" sz="1350" dirty="0">
                <a:solidFill>
                  <a:srgbClr val="10302D"/>
                </a:solidFill>
                <a:latin typeface="Calibri" pitchFamily="34" charset="0"/>
                <a:ea typeface="Calibri" pitchFamily="34" charset="-122"/>
                <a:cs typeface="Calibri" pitchFamily="34" charset="-120"/>
              </a:rPr>
              <a:t>100% không được bịa nguồn</a:t>
            </a:r>
            <a:endParaRPr lang="en-US" sz="1350" dirty="0"/>
          </a:p>
        </p:txBody>
      </p:sp>
      <p:sp>
        <p:nvSpPr>
          <p:cNvPr id="13" name="Shape 11"/>
          <p:cNvSpPr/>
          <p:nvPr/>
        </p:nvSpPr>
        <p:spPr>
          <a:xfrm>
            <a:off x="731520" y="2670048"/>
            <a:ext cx="256032" cy="256032"/>
          </a:xfrm>
          <a:prstGeom prst="ellipse">
            <a:avLst/>
          </a:prstGeom>
          <a:solidFill>
            <a:srgbClr val="02C39A"/>
          </a:solidFill>
          <a:ln/>
        </p:spPr>
        <p:txBody>
          <a:bodyPr/>
          <a:lstStyle/>
          <a:p>
            <a:endParaRPr lang="en-US"/>
          </a:p>
        </p:txBody>
      </p:sp>
      <p:sp>
        <p:nvSpPr>
          <p:cNvPr id="14" name="Text 12"/>
          <p:cNvSpPr/>
          <p:nvPr/>
        </p:nvSpPr>
        <p:spPr>
          <a:xfrm>
            <a:off x="731520" y="2670048"/>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15" name="Text 13"/>
          <p:cNvSpPr/>
          <p:nvPr/>
        </p:nvSpPr>
        <p:spPr>
          <a:xfrm>
            <a:off x="1115568" y="2642616"/>
            <a:ext cx="4480560" cy="320040"/>
          </a:xfrm>
          <a:prstGeom prst="rect">
            <a:avLst/>
          </a:prstGeom>
          <a:noFill/>
          <a:ln/>
        </p:spPr>
        <p:txBody>
          <a:bodyPr wrap="square" lIns="0" tIns="0" rIns="0" bIns="0" rtlCol="0" anchor="ctr"/>
          <a:lstStyle/>
          <a:p>
            <a:pPr marL="0" indent="0">
              <a:buNone/>
            </a:pPr>
            <a:r>
              <a:rPr lang="en-US" sz="1350" dirty="0">
                <a:solidFill>
                  <a:srgbClr val="10302D"/>
                </a:solidFill>
                <a:latin typeface="Calibri" pitchFamily="34" charset="0"/>
                <a:ea typeface="Calibri" pitchFamily="34" charset="-122"/>
                <a:cs typeface="Calibri" pitchFamily="34" charset="-120"/>
              </a:rPr>
              <a:t>100% quiz không lộ đáp án trước Grade</a:t>
            </a:r>
            <a:endParaRPr lang="en-US" sz="1350" dirty="0"/>
          </a:p>
        </p:txBody>
      </p:sp>
      <p:sp>
        <p:nvSpPr>
          <p:cNvPr id="16" name="Shape 14"/>
          <p:cNvSpPr/>
          <p:nvPr/>
        </p:nvSpPr>
        <p:spPr>
          <a:xfrm>
            <a:off x="6126480" y="1280160"/>
            <a:ext cx="5605272" cy="1828800"/>
          </a:xfrm>
          <a:prstGeom prst="roundRect">
            <a:avLst>
              <a:gd name="adj" fmla="val 5000"/>
            </a:avLst>
          </a:prstGeom>
          <a:solidFill>
            <a:srgbClr val="028090"/>
          </a:solidFill>
          <a:ln/>
        </p:spPr>
        <p:txBody>
          <a:bodyPr/>
          <a:lstStyle/>
          <a:p>
            <a:endParaRPr lang="en-US"/>
          </a:p>
        </p:txBody>
      </p:sp>
      <p:sp>
        <p:nvSpPr>
          <p:cNvPr id="17" name="Text 15"/>
          <p:cNvSpPr/>
          <p:nvPr/>
        </p:nvSpPr>
        <p:spPr>
          <a:xfrm>
            <a:off x="6400800" y="1463040"/>
            <a:ext cx="3657600" cy="274320"/>
          </a:xfrm>
          <a:prstGeom prst="rect">
            <a:avLst/>
          </a:prstGeom>
          <a:noFill/>
          <a:ln/>
        </p:spPr>
        <p:txBody>
          <a:bodyPr wrap="square" lIns="0" tIns="0" rIns="0" bIns="0" rtlCol="0" anchor="ctr"/>
          <a:lstStyle/>
          <a:p>
            <a:pPr marL="0" indent="0">
              <a:buNone/>
            </a:pPr>
            <a:r>
              <a:rPr lang="en-US" sz="1100" b="1" kern="0" spc="150" dirty="0">
                <a:solidFill>
                  <a:srgbClr val="FFFFFF"/>
                </a:solidFill>
                <a:latin typeface="Calibri" pitchFamily="34" charset="0"/>
                <a:ea typeface="Calibri" pitchFamily="34" charset="-122"/>
                <a:cs typeface="Calibri" pitchFamily="34" charset="-120"/>
              </a:rPr>
              <a:t>KẾT QUẢ</a:t>
            </a:r>
            <a:endParaRPr lang="en-US" sz="1100" dirty="0"/>
          </a:p>
        </p:txBody>
      </p:sp>
      <p:sp>
        <p:nvSpPr>
          <p:cNvPr id="18" name="Text 16"/>
          <p:cNvSpPr/>
          <p:nvPr/>
        </p:nvSpPr>
        <p:spPr>
          <a:xfrm>
            <a:off x="6400800" y="1719072"/>
            <a:ext cx="2377440" cy="7772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90%</a:t>
            </a:r>
            <a:endParaRPr lang="en-US" sz="4600" dirty="0"/>
          </a:p>
        </p:txBody>
      </p:sp>
      <p:sp>
        <p:nvSpPr>
          <p:cNvPr id="19" name="Text 17"/>
          <p:cNvSpPr/>
          <p:nvPr/>
        </p:nvSpPr>
        <p:spPr>
          <a:xfrm>
            <a:off x="6400800" y="2514600"/>
            <a:ext cx="2377440" cy="502920"/>
          </a:xfrm>
          <a:prstGeom prst="rect">
            <a:avLst/>
          </a:prstGeom>
          <a:noFill/>
          <a:ln/>
        </p:spPr>
        <p:txBody>
          <a:bodyPr wrap="square" lIns="0" tIns="0" rIns="0" bIns="0" rtlCol="0" anchor="ctr"/>
          <a:lstStyle/>
          <a:p>
            <a:pPr marL="0" indent="0">
              <a:lnSpc>
                <a:spcPct val="105000"/>
              </a:lnSpc>
              <a:buNone/>
            </a:pPr>
            <a:r>
              <a:rPr lang="en-US" sz="1200" dirty="0">
                <a:solidFill>
                  <a:srgbClr val="02C39A"/>
                </a:solidFill>
                <a:latin typeface="Calibri" pitchFamily="34" charset="0"/>
                <a:ea typeface="Calibri" pitchFamily="34" charset="-122"/>
                <a:cs typeface="Calibri" pitchFamily="34" charset="-120"/>
              </a:rPr>
              <a:t>Golden set pass</a:t>
            </a:r>
            <a:endParaRPr lang="en-US" sz="1200" dirty="0"/>
          </a:p>
          <a:p>
            <a:pPr marL="0" indent="0">
              <a:lnSpc>
                <a:spcPct val="105000"/>
              </a:lnSpc>
              <a:buNone/>
            </a:pPr>
            <a:r>
              <a:rPr lang="en-US" sz="1200" dirty="0">
                <a:solidFill>
                  <a:srgbClr val="02C39A"/>
                </a:solidFill>
                <a:latin typeface="Calibri" pitchFamily="34" charset="0"/>
                <a:ea typeface="Calibri" pitchFamily="34" charset="-122"/>
                <a:cs typeface="Calibri" pitchFamily="34" charset="-120"/>
              </a:rPr>
              <a:t>18/20</a:t>
            </a:r>
            <a:endParaRPr lang="en-US" sz="1200" dirty="0"/>
          </a:p>
        </p:txBody>
      </p:sp>
      <p:sp>
        <p:nvSpPr>
          <p:cNvPr id="20" name="Text 18"/>
          <p:cNvSpPr/>
          <p:nvPr/>
        </p:nvSpPr>
        <p:spPr>
          <a:xfrm>
            <a:off x="8961120" y="1783080"/>
            <a:ext cx="2496312" cy="365760"/>
          </a:xfrm>
          <a:prstGeom prst="rect">
            <a:avLst/>
          </a:prstGeom>
          <a:noFill/>
          <a:ln/>
        </p:spPr>
        <p:txBody>
          <a:bodyPr wrap="square" lIns="0" tIns="0" rIns="0" bIns="0" rtlCol="0" anchor="ctr"/>
          <a:lstStyle/>
          <a:p>
            <a:pPr marL="0" indent="0">
              <a:buNone/>
            </a:pPr>
            <a:endParaRPr lang="en-US" sz="1300" dirty="0"/>
          </a:p>
        </p:txBody>
      </p:sp>
      <p:sp>
        <p:nvSpPr>
          <p:cNvPr id="21" name="Text 19"/>
          <p:cNvSpPr/>
          <p:nvPr/>
        </p:nvSpPr>
        <p:spPr>
          <a:xfrm>
            <a:off x="8961120" y="2240280"/>
            <a:ext cx="2496312" cy="365760"/>
          </a:xfrm>
          <a:prstGeom prst="rect">
            <a:avLst/>
          </a:prstGeom>
          <a:noFill/>
          <a:ln/>
        </p:spPr>
        <p:txBody>
          <a:bodyPr wrap="square" lIns="0" tIns="0" rIns="0" bIns="0" rtlCol="0" anchor="ctr"/>
          <a:lstStyle/>
          <a:p>
            <a:pPr marL="0" indent="0">
              <a:buNone/>
            </a:pPr>
            <a:endParaRPr lang="en-US" sz="1300" dirty="0"/>
          </a:p>
        </p:txBody>
      </p:sp>
      <p:sp>
        <p:nvSpPr>
          <p:cNvPr id="22" name="Shape 20"/>
          <p:cNvSpPr/>
          <p:nvPr/>
        </p:nvSpPr>
        <p:spPr>
          <a:xfrm>
            <a:off x="457200" y="3383280"/>
            <a:ext cx="11274552" cy="2377440"/>
          </a:xfrm>
          <a:prstGeom prst="roundRect">
            <a:avLst>
              <a:gd name="adj" fmla="val 3846"/>
            </a:avLst>
          </a:prstGeom>
          <a:solidFill>
            <a:srgbClr val="FBECEC"/>
          </a:solidFill>
          <a:ln/>
        </p:spPr>
        <p:txBody>
          <a:bodyPr/>
          <a:lstStyle/>
          <a:p>
            <a:endParaRPr lang="en-US"/>
          </a:p>
        </p:txBody>
      </p:sp>
      <p:sp>
        <p:nvSpPr>
          <p:cNvPr id="23" name="Text 21"/>
          <p:cNvSpPr/>
          <p:nvPr/>
        </p:nvSpPr>
        <p:spPr>
          <a:xfrm>
            <a:off x="731520" y="3611880"/>
            <a:ext cx="3657600" cy="274320"/>
          </a:xfrm>
          <a:prstGeom prst="rect">
            <a:avLst/>
          </a:prstGeom>
          <a:noFill/>
          <a:ln/>
        </p:spPr>
        <p:txBody>
          <a:bodyPr wrap="square" lIns="0" tIns="0" rIns="0" bIns="0" rtlCol="0" anchor="ctr"/>
          <a:lstStyle/>
          <a:p>
            <a:pPr marL="0" indent="0">
              <a:buNone/>
            </a:pPr>
            <a:r>
              <a:rPr lang="en-US" sz="1100" b="1" kern="0" spc="150" dirty="0">
                <a:solidFill>
                  <a:srgbClr val="C0483F"/>
                </a:solidFill>
                <a:latin typeface="Calibri" pitchFamily="34" charset="0"/>
                <a:ea typeface="Calibri" pitchFamily="34" charset="-122"/>
                <a:cs typeface="Calibri" pitchFamily="34" charset="-120"/>
              </a:rPr>
              <a:t>FAILURE LỚN NHẤT</a:t>
            </a:r>
            <a:endParaRPr lang="en-US" sz="1100" dirty="0"/>
          </a:p>
        </p:txBody>
      </p:sp>
      <p:sp>
        <p:nvSpPr>
          <p:cNvPr id="24" name="Text 22"/>
          <p:cNvSpPr/>
          <p:nvPr/>
        </p:nvSpPr>
        <p:spPr>
          <a:xfrm>
            <a:off x="731520" y="3931920"/>
            <a:ext cx="1554480" cy="1005840"/>
          </a:xfrm>
          <a:prstGeom prst="rect">
            <a:avLst/>
          </a:prstGeom>
          <a:noFill/>
          <a:ln/>
        </p:spPr>
        <p:txBody>
          <a:bodyPr wrap="square" lIns="0" tIns="0" rIns="0" bIns="0" rtlCol="0" anchor="ctr"/>
          <a:lstStyle/>
          <a:p>
            <a:pPr marL="0" indent="0">
              <a:buNone/>
            </a:pPr>
            <a:r>
              <a:rPr lang="en-US" sz="5200" b="1" dirty="0">
                <a:solidFill>
                  <a:srgbClr val="9C3B3B"/>
                </a:solidFill>
                <a:latin typeface="Cambria" pitchFamily="34" charset="0"/>
                <a:ea typeface="Cambria" pitchFamily="34" charset="-122"/>
                <a:cs typeface="Cambria" pitchFamily="34" charset="-120"/>
              </a:rPr>
              <a:t>2</a:t>
            </a:r>
            <a:endParaRPr lang="en-US" sz="5200" dirty="0"/>
          </a:p>
        </p:txBody>
      </p:sp>
      <p:sp>
        <p:nvSpPr>
          <p:cNvPr id="25" name="Text 23"/>
          <p:cNvSpPr/>
          <p:nvPr/>
        </p:nvSpPr>
        <p:spPr>
          <a:xfrm>
            <a:off x="731520" y="5257800"/>
            <a:ext cx="1554480" cy="320040"/>
          </a:xfrm>
          <a:prstGeom prst="rect">
            <a:avLst/>
          </a:prstGeom>
          <a:noFill/>
          <a:ln/>
        </p:spPr>
        <p:txBody>
          <a:bodyPr wrap="square" lIns="0" tIns="0" rIns="0" bIns="0" rtlCol="0" anchor="ctr"/>
          <a:lstStyle/>
          <a:p>
            <a:pPr marL="0" indent="0">
              <a:buNone/>
            </a:pPr>
            <a:r>
              <a:rPr lang="en-US" sz="1300" dirty="0">
                <a:solidFill>
                  <a:srgbClr val="9C3B3B"/>
                </a:solidFill>
                <a:latin typeface="Calibri" pitchFamily="34" charset="0"/>
                <a:ea typeface="Calibri" pitchFamily="34" charset="-122"/>
                <a:cs typeface="Calibri" pitchFamily="34" charset="-120"/>
              </a:rPr>
              <a:t>case fail</a:t>
            </a:r>
            <a:endParaRPr lang="en-US" sz="1300" dirty="0"/>
          </a:p>
        </p:txBody>
      </p:sp>
      <p:sp>
        <p:nvSpPr>
          <p:cNvPr id="26" name="Shape 24"/>
          <p:cNvSpPr/>
          <p:nvPr/>
        </p:nvSpPr>
        <p:spPr>
          <a:xfrm>
            <a:off x="2560320" y="3703320"/>
            <a:ext cx="0" cy="1737360"/>
          </a:xfrm>
          <a:prstGeom prst="line">
            <a:avLst/>
          </a:prstGeom>
          <a:noFill/>
          <a:ln w="19050">
            <a:solidFill>
              <a:srgbClr val="E7C6C6"/>
            </a:solidFill>
            <a:prstDash val="solid"/>
          </a:ln>
        </p:spPr>
        <p:txBody>
          <a:bodyPr/>
          <a:lstStyle/>
          <a:p>
            <a:endParaRPr lang="en-US"/>
          </a:p>
        </p:txBody>
      </p:sp>
      <p:sp>
        <p:nvSpPr>
          <p:cNvPr id="27" name="Text 25"/>
          <p:cNvSpPr/>
          <p:nvPr/>
        </p:nvSpPr>
        <p:spPr>
          <a:xfrm>
            <a:off x="2926080" y="3703320"/>
            <a:ext cx="3657600" cy="274320"/>
          </a:xfrm>
          <a:prstGeom prst="rect">
            <a:avLst/>
          </a:prstGeom>
          <a:noFill/>
          <a:ln/>
        </p:spPr>
        <p:txBody>
          <a:bodyPr wrap="square" lIns="0" tIns="0" rIns="0" bIns="0" rtlCol="0" anchor="ctr"/>
          <a:lstStyle/>
          <a:p>
            <a:pPr marL="0" indent="0">
              <a:buNone/>
            </a:pPr>
            <a:r>
              <a:rPr lang="en-US" sz="1100" b="1" kern="0" spc="150" dirty="0">
                <a:solidFill>
                  <a:srgbClr val="C0483F"/>
                </a:solidFill>
                <a:latin typeface="Calibri" pitchFamily="34" charset="0"/>
                <a:ea typeface="Calibri" pitchFamily="34" charset="-122"/>
                <a:cs typeface="Calibri" pitchFamily="34" charset="-120"/>
              </a:rPr>
              <a:t>NGUYÊN NHÂN</a:t>
            </a:r>
            <a:endParaRPr lang="en-US" sz="1100" dirty="0"/>
          </a:p>
        </p:txBody>
      </p:sp>
      <p:sp>
        <p:nvSpPr>
          <p:cNvPr id="28" name="Shape 26"/>
          <p:cNvSpPr/>
          <p:nvPr/>
        </p:nvSpPr>
        <p:spPr>
          <a:xfrm>
            <a:off x="2926080" y="4114800"/>
            <a:ext cx="109728" cy="109728"/>
          </a:xfrm>
          <a:prstGeom prst="ellipse">
            <a:avLst/>
          </a:prstGeom>
          <a:solidFill>
            <a:srgbClr val="C0483F"/>
          </a:solidFill>
          <a:ln/>
        </p:spPr>
        <p:txBody>
          <a:bodyPr/>
          <a:lstStyle/>
          <a:p>
            <a:endParaRPr lang="en-US"/>
          </a:p>
        </p:txBody>
      </p:sp>
      <p:sp>
        <p:nvSpPr>
          <p:cNvPr id="29" name="Text 27"/>
          <p:cNvSpPr/>
          <p:nvPr/>
        </p:nvSpPr>
        <p:spPr>
          <a:xfrm>
            <a:off x="3154680" y="3986784"/>
            <a:ext cx="5943600" cy="365760"/>
          </a:xfrm>
          <a:prstGeom prst="rect">
            <a:avLst/>
          </a:prstGeom>
          <a:noFill/>
          <a:ln/>
        </p:spPr>
        <p:txBody>
          <a:bodyPr wrap="square" lIns="0" tIns="0" rIns="0" bIns="0" rtlCol="0" anchor="ctr"/>
          <a:lstStyle/>
          <a:p>
            <a:pPr marL="0" indent="0">
              <a:buNone/>
            </a:pPr>
            <a:r>
              <a:rPr lang="en-US" sz="1400" dirty="0">
                <a:solidFill>
                  <a:srgbClr val="9C3B3B"/>
                </a:solidFill>
                <a:latin typeface="Calibri" pitchFamily="34" charset="0"/>
                <a:ea typeface="Calibri" pitchFamily="34" charset="-122"/>
                <a:cs typeface="Calibri" pitchFamily="34" charset="-120"/>
              </a:rPr>
              <a:t>Citation chưa chính xác</a:t>
            </a:r>
            <a:endParaRPr lang="en-US" sz="1400" dirty="0"/>
          </a:p>
        </p:txBody>
      </p:sp>
      <p:sp>
        <p:nvSpPr>
          <p:cNvPr id="30" name="Shape 28"/>
          <p:cNvSpPr/>
          <p:nvPr/>
        </p:nvSpPr>
        <p:spPr>
          <a:xfrm>
            <a:off x="2926080" y="4617720"/>
            <a:ext cx="109728" cy="109728"/>
          </a:xfrm>
          <a:prstGeom prst="ellipse">
            <a:avLst/>
          </a:prstGeom>
          <a:solidFill>
            <a:srgbClr val="C0483F"/>
          </a:solidFill>
          <a:ln/>
        </p:spPr>
        <p:txBody>
          <a:bodyPr/>
          <a:lstStyle/>
          <a:p>
            <a:endParaRPr lang="en-US"/>
          </a:p>
        </p:txBody>
      </p:sp>
      <p:sp>
        <p:nvSpPr>
          <p:cNvPr id="31" name="Text 29"/>
          <p:cNvSpPr/>
          <p:nvPr/>
        </p:nvSpPr>
        <p:spPr>
          <a:xfrm>
            <a:off x="3154680" y="4489704"/>
            <a:ext cx="5943600" cy="365760"/>
          </a:xfrm>
          <a:prstGeom prst="rect">
            <a:avLst/>
          </a:prstGeom>
          <a:noFill/>
          <a:ln/>
        </p:spPr>
        <p:txBody>
          <a:bodyPr wrap="square" lIns="0" tIns="0" rIns="0" bIns="0" rtlCol="0" anchor="ctr"/>
          <a:lstStyle/>
          <a:p>
            <a:pPr marL="0" indent="0">
              <a:buNone/>
            </a:pPr>
            <a:r>
              <a:rPr lang="en-US" sz="1400" dirty="0">
                <a:solidFill>
                  <a:srgbClr val="9C3B3B"/>
                </a:solidFill>
                <a:latin typeface="Calibri" pitchFamily="34" charset="0"/>
                <a:ea typeface="Calibri" pitchFamily="34" charset="-122"/>
                <a:cs typeface="Calibri" pitchFamily="34" charset="-120"/>
              </a:rPr>
              <a:t>Groundedness chưa đạt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028090"/>
          </a:solidFill>
          <a:ln/>
        </p:spPr>
        <p:txBody>
          <a:bodyPr/>
          <a:lstStyle/>
          <a:p>
            <a:endParaRPr lang="en-US"/>
          </a:p>
        </p:txBody>
      </p:sp>
      <p:sp>
        <p:nvSpPr>
          <p:cNvPr id="3" name="Text 1"/>
          <p:cNvSpPr/>
          <p:nvPr/>
        </p:nvSpPr>
        <p:spPr>
          <a:xfrm>
            <a:off x="457200" y="3840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4" name="Text 2"/>
          <p:cNvSpPr/>
          <p:nvPr/>
        </p:nvSpPr>
        <p:spPr>
          <a:xfrm>
            <a:off x="1143000" y="347472"/>
            <a:ext cx="10588752" cy="594360"/>
          </a:xfrm>
          <a:prstGeom prst="rect">
            <a:avLst/>
          </a:prstGeom>
          <a:noFill/>
          <a:ln/>
        </p:spPr>
        <p:txBody>
          <a:bodyPr wrap="square" lIns="0" tIns="0" rIns="0" bIns="0" rtlCol="0" anchor="ctr"/>
          <a:lstStyle/>
          <a:p>
            <a:pPr marL="0" indent="0">
              <a:buNone/>
            </a:pPr>
            <a:r>
              <a:rPr lang="en-US" sz="3200" b="1" dirty="0">
                <a:solidFill>
                  <a:srgbClr val="10302D"/>
                </a:solidFill>
                <a:latin typeface="Cambria" pitchFamily="34" charset="0"/>
                <a:ea typeface="Cambria" pitchFamily="34" charset="-122"/>
                <a:cs typeface="Cambria" pitchFamily="34" charset="-120"/>
              </a:rPr>
              <a:t>User thật nói gì</a:t>
            </a:r>
            <a:endParaRPr lang="en-US" sz="3200" dirty="0"/>
          </a:p>
        </p:txBody>
      </p:sp>
      <p:sp>
        <p:nvSpPr>
          <p:cNvPr id="5" name="Text 3"/>
          <p:cNvSpPr/>
          <p:nvPr/>
        </p:nvSpPr>
        <p:spPr>
          <a:xfrm>
            <a:off x="1143000" y="896112"/>
            <a:ext cx="10588752" cy="274320"/>
          </a:xfrm>
          <a:prstGeom prst="rect">
            <a:avLst/>
          </a:prstGeom>
          <a:noFill/>
          <a:ln/>
        </p:spPr>
        <p:txBody>
          <a:bodyPr wrap="square" lIns="0" tIns="0" rIns="0" bIns="0" rtlCol="0" anchor="ctr"/>
          <a:lstStyle/>
          <a:p>
            <a:pPr marL="0" indent="0">
              <a:buNone/>
            </a:pPr>
            <a:r>
              <a:rPr lang="en-US" sz="1300" i="1" dirty="0">
                <a:solidFill>
                  <a:srgbClr val="56736F"/>
                </a:solidFill>
                <a:latin typeface="Calibri" pitchFamily="34" charset="0"/>
                <a:ea typeface="Calibri" pitchFamily="34" charset="-122"/>
                <a:cs typeface="Calibri" pitchFamily="34" charset="-120"/>
              </a:rPr>
              <a:t>Validation</a:t>
            </a:r>
            <a:endParaRPr lang="en-US" sz="1300" dirty="0"/>
          </a:p>
        </p:txBody>
      </p:sp>
      <p:sp>
        <p:nvSpPr>
          <p:cNvPr id="6" name="Shape 4"/>
          <p:cNvSpPr/>
          <p:nvPr/>
        </p:nvSpPr>
        <p:spPr>
          <a:xfrm>
            <a:off x="457200" y="1417320"/>
            <a:ext cx="5500116" cy="2331720"/>
          </a:xfrm>
          <a:prstGeom prst="roundRect">
            <a:avLst>
              <a:gd name="adj" fmla="val 3922"/>
            </a:avLst>
          </a:prstGeom>
          <a:solidFill>
            <a:srgbClr val="EDF7F6"/>
          </a:solidFill>
          <a:ln/>
        </p:spPr>
        <p:txBody>
          <a:bodyPr/>
          <a:lstStyle/>
          <a:p>
            <a:endParaRPr lang="en-US"/>
          </a:p>
        </p:txBody>
      </p:sp>
      <p:sp>
        <p:nvSpPr>
          <p:cNvPr id="7" name="Text 5"/>
          <p:cNvSpPr/>
          <p:nvPr/>
        </p:nvSpPr>
        <p:spPr>
          <a:xfrm>
            <a:off x="594360" y="1325880"/>
            <a:ext cx="914400" cy="822960"/>
          </a:xfrm>
          <a:prstGeom prst="rect">
            <a:avLst/>
          </a:prstGeom>
          <a:noFill/>
          <a:ln/>
        </p:spPr>
        <p:txBody>
          <a:bodyPr wrap="square" lIns="0" tIns="0" rIns="0" bIns="0" rtlCol="0" anchor="ctr"/>
          <a:lstStyle/>
          <a:p>
            <a:pPr marL="0" indent="0">
              <a:buNone/>
            </a:pPr>
            <a:r>
              <a:rPr lang="en-US" sz="6000" b="1" dirty="0">
                <a:solidFill>
                  <a:srgbClr val="02C39A"/>
                </a:solidFill>
                <a:latin typeface="Cambria" pitchFamily="34" charset="0"/>
                <a:ea typeface="Cambria" pitchFamily="34" charset="-122"/>
                <a:cs typeface="Cambria" pitchFamily="34" charset="-120"/>
              </a:rPr>
              <a:t>“</a:t>
            </a:r>
            <a:endParaRPr lang="en-US" sz="6000" dirty="0"/>
          </a:p>
        </p:txBody>
      </p:sp>
      <p:sp>
        <p:nvSpPr>
          <p:cNvPr id="8" name="Text 6"/>
          <p:cNvSpPr/>
          <p:nvPr/>
        </p:nvSpPr>
        <p:spPr>
          <a:xfrm>
            <a:off x="777240" y="1920240"/>
            <a:ext cx="4860036" cy="777240"/>
          </a:xfrm>
          <a:prstGeom prst="rect">
            <a:avLst/>
          </a:prstGeom>
          <a:noFill/>
          <a:ln/>
        </p:spPr>
        <p:txBody>
          <a:bodyPr wrap="square" lIns="0" tIns="0" rIns="0" bIns="0" rtlCol="0" anchor="ctr"/>
          <a:lstStyle/>
          <a:p>
            <a:pPr marL="0" indent="0">
              <a:buNone/>
            </a:pPr>
            <a:r>
              <a:rPr lang="en-US" sz="1400" i="1" dirty="0">
                <a:solidFill>
                  <a:srgbClr val="10302D"/>
                </a:solidFill>
                <a:latin typeface="Calibri" pitchFamily="34" charset="0"/>
                <a:ea typeface="Calibri" pitchFamily="34" charset="-122"/>
                <a:cs typeface="Calibri" pitchFamily="34" charset="-120"/>
              </a:rPr>
              <a:t>Linh </a:t>
            </a:r>
            <a:r>
              <a:rPr lang="vi-VN" sz="1400" i="1" dirty="0">
                <a:solidFill>
                  <a:srgbClr val="10302D"/>
                </a:solidFill>
                <a:latin typeface="Calibri" pitchFamily="34" charset="0"/>
                <a:ea typeface="Calibri" pitchFamily="34" charset="-122"/>
                <a:cs typeface="Calibri" pitchFamily="34" charset="-120"/>
              </a:rPr>
              <a:t>nói không tóm tắt được nhiều slide</a:t>
            </a:r>
            <a:endParaRPr lang="en-US" sz="1400" dirty="0"/>
          </a:p>
        </p:txBody>
      </p:sp>
      <p:sp>
        <p:nvSpPr>
          <p:cNvPr id="9" name="Text 7"/>
          <p:cNvSpPr/>
          <p:nvPr/>
        </p:nvSpPr>
        <p:spPr>
          <a:xfrm>
            <a:off x="777240" y="2651760"/>
            <a:ext cx="4860036" cy="27432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 Học viên A</a:t>
            </a:r>
            <a:endParaRPr lang="en-US" sz="1200" dirty="0"/>
          </a:p>
        </p:txBody>
      </p:sp>
      <p:sp>
        <p:nvSpPr>
          <p:cNvPr id="10" name="Shape 8"/>
          <p:cNvSpPr/>
          <p:nvPr/>
        </p:nvSpPr>
        <p:spPr>
          <a:xfrm>
            <a:off x="777240" y="3017520"/>
            <a:ext cx="4860036" cy="594360"/>
          </a:xfrm>
          <a:prstGeom prst="roundRect">
            <a:avLst>
              <a:gd name="adj" fmla="val 9231"/>
            </a:avLst>
          </a:prstGeom>
          <a:solidFill>
            <a:srgbClr val="FFFFFF"/>
          </a:solidFill>
          <a:ln/>
        </p:spPr>
        <p:txBody>
          <a:bodyPr/>
          <a:lstStyle/>
          <a:p>
            <a:endParaRPr lang="en-US"/>
          </a:p>
        </p:txBody>
      </p:sp>
      <p:sp>
        <p:nvSpPr>
          <p:cNvPr id="11" name="Text 9"/>
          <p:cNvSpPr/>
          <p:nvPr/>
        </p:nvSpPr>
        <p:spPr>
          <a:xfrm>
            <a:off x="914400" y="3017520"/>
            <a:ext cx="4585716" cy="59436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Đã </a:t>
            </a:r>
            <a:r>
              <a:rPr lang="en-US" sz="1200" b="1" dirty="0" err="1">
                <a:solidFill>
                  <a:srgbClr val="00A896"/>
                </a:solidFill>
                <a:latin typeface="Calibri" pitchFamily="34" charset="0"/>
                <a:ea typeface="Calibri" pitchFamily="34" charset="-122"/>
                <a:cs typeface="Calibri" pitchFamily="34" charset="-120"/>
              </a:rPr>
              <a:t>sửa</a:t>
            </a:r>
            <a:r>
              <a:rPr lang="en-US" sz="1200" b="1" dirty="0">
                <a:solidFill>
                  <a:srgbClr val="00A896"/>
                </a:solidFill>
                <a:latin typeface="Calibri" pitchFamily="34" charset="0"/>
                <a:ea typeface="Calibri" pitchFamily="34" charset="-122"/>
                <a:cs typeface="Calibri" pitchFamily="34" charset="-120"/>
              </a:rPr>
              <a:t>:</a:t>
            </a:r>
            <a:r>
              <a:rPr lang="vi-VN" sz="1200" b="1" dirty="0">
                <a:solidFill>
                  <a:srgbClr val="00A896"/>
                </a:solidFill>
                <a:latin typeface="Calibri" pitchFamily="34" charset="0"/>
                <a:ea typeface="Calibri" pitchFamily="34" charset="-122"/>
                <a:cs typeface="Calibri" pitchFamily="34" charset="-120"/>
              </a:rPr>
              <a:t> Sửa lỗi có thể tóm tắt được slide chỉ định và nhiều slide</a:t>
            </a:r>
            <a:r>
              <a:rPr lang="en-US" sz="1200" b="1" dirty="0">
                <a:solidFill>
                  <a:srgbClr val="00A896"/>
                </a:solidFill>
                <a:latin typeface="Calibri" pitchFamily="34" charset="0"/>
                <a:ea typeface="Calibri" pitchFamily="34" charset="-122"/>
                <a:cs typeface="Calibri" pitchFamily="34" charset="-120"/>
              </a:rPr>
              <a:t>  </a:t>
            </a:r>
            <a:endParaRPr lang="en-US" sz="1200" dirty="0"/>
          </a:p>
        </p:txBody>
      </p:sp>
      <p:sp>
        <p:nvSpPr>
          <p:cNvPr id="12" name="Shape 10"/>
          <p:cNvSpPr/>
          <p:nvPr/>
        </p:nvSpPr>
        <p:spPr>
          <a:xfrm>
            <a:off x="6231636" y="1417320"/>
            <a:ext cx="5500116" cy="2331720"/>
          </a:xfrm>
          <a:prstGeom prst="roundRect">
            <a:avLst>
              <a:gd name="adj" fmla="val 3922"/>
            </a:avLst>
          </a:prstGeom>
          <a:solidFill>
            <a:srgbClr val="EDF7F6"/>
          </a:solidFill>
          <a:ln/>
        </p:spPr>
        <p:txBody>
          <a:bodyPr/>
          <a:lstStyle/>
          <a:p>
            <a:endParaRPr lang="en-US" dirty="0"/>
          </a:p>
        </p:txBody>
      </p:sp>
      <p:sp>
        <p:nvSpPr>
          <p:cNvPr id="13" name="Text 11"/>
          <p:cNvSpPr/>
          <p:nvPr/>
        </p:nvSpPr>
        <p:spPr>
          <a:xfrm>
            <a:off x="6368796" y="1325880"/>
            <a:ext cx="914400" cy="822960"/>
          </a:xfrm>
          <a:prstGeom prst="rect">
            <a:avLst/>
          </a:prstGeom>
          <a:noFill/>
          <a:ln/>
        </p:spPr>
        <p:txBody>
          <a:bodyPr wrap="square" lIns="0" tIns="0" rIns="0" bIns="0" rtlCol="0" anchor="ctr"/>
          <a:lstStyle/>
          <a:p>
            <a:pPr marL="0" indent="0">
              <a:buNone/>
            </a:pPr>
            <a:r>
              <a:rPr lang="en-US" sz="6000" b="1" dirty="0">
                <a:solidFill>
                  <a:srgbClr val="02C39A"/>
                </a:solidFill>
                <a:latin typeface="Cambria" pitchFamily="34" charset="0"/>
                <a:ea typeface="Cambria" pitchFamily="34" charset="-122"/>
                <a:cs typeface="Cambria" pitchFamily="34" charset="-120"/>
              </a:rPr>
              <a:t>“</a:t>
            </a:r>
            <a:endParaRPr lang="en-US" sz="6000" dirty="0"/>
          </a:p>
        </p:txBody>
      </p:sp>
      <p:sp>
        <p:nvSpPr>
          <p:cNvPr id="14" name="Text 12"/>
          <p:cNvSpPr/>
          <p:nvPr/>
        </p:nvSpPr>
        <p:spPr>
          <a:xfrm>
            <a:off x="6551676" y="1920240"/>
            <a:ext cx="4860036" cy="777240"/>
          </a:xfrm>
          <a:prstGeom prst="rect">
            <a:avLst/>
          </a:prstGeom>
          <a:noFill/>
          <a:ln/>
        </p:spPr>
        <p:txBody>
          <a:bodyPr wrap="square" lIns="0" tIns="0" rIns="0" bIns="0" rtlCol="0" anchor="ctr"/>
          <a:lstStyle/>
          <a:p>
            <a:pPr marL="0" indent="0">
              <a:buNone/>
            </a:pPr>
            <a:r>
              <a:rPr lang="vi-VN" sz="1400" i="1" dirty="0">
                <a:solidFill>
                  <a:srgbClr val="10302D"/>
                </a:solidFill>
                <a:latin typeface="Calibri" pitchFamily="34" charset="0"/>
                <a:ea typeface="Calibri" pitchFamily="34" charset="-122"/>
                <a:cs typeface="Calibri" pitchFamily="34" charset="-120"/>
              </a:rPr>
              <a:t>Bảo nói không đủ key để hỏi nhiều lần </a:t>
            </a:r>
            <a:endParaRPr lang="en-US" sz="1400" dirty="0"/>
          </a:p>
        </p:txBody>
      </p:sp>
      <p:sp>
        <p:nvSpPr>
          <p:cNvPr id="15" name="Text 13"/>
          <p:cNvSpPr/>
          <p:nvPr/>
        </p:nvSpPr>
        <p:spPr>
          <a:xfrm>
            <a:off x="6551676" y="2651760"/>
            <a:ext cx="4860036" cy="27432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 Học viên B</a:t>
            </a:r>
            <a:endParaRPr lang="en-US" sz="1200" dirty="0"/>
          </a:p>
        </p:txBody>
      </p:sp>
      <p:sp>
        <p:nvSpPr>
          <p:cNvPr id="16" name="Shape 14"/>
          <p:cNvSpPr/>
          <p:nvPr/>
        </p:nvSpPr>
        <p:spPr>
          <a:xfrm>
            <a:off x="6551676" y="3017520"/>
            <a:ext cx="4860036" cy="594360"/>
          </a:xfrm>
          <a:prstGeom prst="roundRect">
            <a:avLst>
              <a:gd name="adj" fmla="val 9231"/>
            </a:avLst>
          </a:prstGeom>
          <a:solidFill>
            <a:srgbClr val="FFFFFF"/>
          </a:solidFill>
          <a:ln/>
        </p:spPr>
        <p:txBody>
          <a:bodyPr/>
          <a:lstStyle/>
          <a:p>
            <a:endParaRPr lang="en-US"/>
          </a:p>
        </p:txBody>
      </p:sp>
      <p:sp>
        <p:nvSpPr>
          <p:cNvPr id="17" name="Text 15"/>
          <p:cNvSpPr/>
          <p:nvPr/>
        </p:nvSpPr>
        <p:spPr>
          <a:xfrm>
            <a:off x="6688836" y="3017520"/>
            <a:ext cx="4585716" cy="594360"/>
          </a:xfrm>
          <a:prstGeom prst="rect">
            <a:avLst/>
          </a:prstGeom>
          <a:noFill/>
          <a:ln/>
        </p:spPr>
        <p:txBody>
          <a:bodyPr wrap="square" lIns="0" tIns="0" rIns="0" bIns="0" rtlCol="0" anchor="ctr"/>
          <a:lstStyle/>
          <a:p>
            <a:pPr marL="0" indent="0">
              <a:buNone/>
            </a:pPr>
            <a:r>
              <a:rPr lang="en-US" sz="1200" b="1" dirty="0">
                <a:solidFill>
                  <a:srgbClr val="00A896"/>
                </a:solidFill>
                <a:latin typeface="Calibri" pitchFamily="34" charset="0"/>
                <a:ea typeface="Calibri" pitchFamily="34" charset="-122"/>
                <a:cs typeface="Calibri" pitchFamily="34" charset="-120"/>
              </a:rPr>
              <a:t>Đã sửa:  </a:t>
            </a:r>
            <a:r>
              <a:rPr lang="vi-VN" sz="1200" b="1" dirty="0">
                <a:solidFill>
                  <a:srgbClr val="00A896"/>
                </a:solidFill>
                <a:latin typeface="Calibri" pitchFamily="34" charset="0"/>
                <a:ea typeface="Calibri" pitchFamily="34" charset="-122"/>
                <a:cs typeface="Calibri" pitchFamily="34" charset="-120"/>
              </a:rPr>
              <a:t>Sửa lỗi model chỉ cho phép hỏi 15 câu / 1 ngày</a:t>
            </a:r>
            <a:endParaRPr lang="en-US" sz="1200" dirty="0"/>
          </a:p>
        </p:txBody>
      </p:sp>
      <p:sp>
        <p:nvSpPr>
          <p:cNvPr id="18" name="Shape 16"/>
          <p:cNvSpPr/>
          <p:nvPr/>
        </p:nvSpPr>
        <p:spPr>
          <a:xfrm>
            <a:off x="457200" y="4023360"/>
            <a:ext cx="5500116" cy="1188720"/>
          </a:xfrm>
          <a:prstGeom prst="roundRect">
            <a:avLst>
              <a:gd name="adj" fmla="val 7692"/>
            </a:avLst>
          </a:prstGeom>
          <a:solidFill>
            <a:srgbClr val="028090"/>
          </a:solidFill>
          <a:ln/>
        </p:spPr>
        <p:txBody>
          <a:bodyPr/>
          <a:lstStyle/>
          <a:p>
            <a:endParaRPr lang="en-US"/>
          </a:p>
        </p:txBody>
      </p:sp>
      <p:sp>
        <p:nvSpPr>
          <p:cNvPr id="19" name="Text 17"/>
          <p:cNvSpPr/>
          <p:nvPr/>
        </p:nvSpPr>
        <p:spPr>
          <a:xfrm>
            <a:off x="731520" y="4160520"/>
            <a:ext cx="4951476" cy="457200"/>
          </a:xfrm>
          <a:prstGeom prst="rect">
            <a:avLst/>
          </a:prstGeom>
          <a:noFill/>
          <a:ln/>
        </p:spPr>
        <p:txBody>
          <a:bodyPr wrap="square" lIns="0" tIns="0" rIns="0" bIns="0" rtlCol="0" anchor="ctr"/>
          <a:lstStyle/>
          <a:p>
            <a:pPr marL="0" indent="0">
              <a:buNone/>
            </a:pPr>
            <a:r>
              <a:rPr lang="vi-VN" sz="2600" b="1" dirty="0">
                <a:solidFill>
                  <a:srgbClr val="FFFFFF"/>
                </a:solidFill>
                <a:latin typeface="Cambria" pitchFamily="34" charset="0"/>
                <a:ea typeface="Cambria" pitchFamily="34" charset="-122"/>
                <a:cs typeface="Cambria" pitchFamily="34" charset="-120"/>
              </a:rPr>
              <a:t>4</a:t>
            </a:r>
            <a:r>
              <a:rPr lang="en-US" sz="2600" b="1" dirty="0">
                <a:solidFill>
                  <a:srgbClr val="FFFFFF"/>
                </a:solidFill>
                <a:latin typeface="Cambria" pitchFamily="34" charset="0"/>
                <a:ea typeface="Cambria" pitchFamily="34" charset="-122"/>
                <a:cs typeface="Cambria" pitchFamily="34" charset="-120"/>
              </a:rPr>
              <a:t>/</a:t>
            </a:r>
            <a:r>
              <a:rPr lang="vi-VN"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20" name="Text 18"/>
          <p:cNvSpPr/>
          <p:nvPr/>
        </p:nvSpPr>
        <p:spPr>
          <a:xfrm>
            <a:off x="731520" y="4681728"/>
            <a:ext cx="4951476" cy="411480"/>
          </a:xfrm>
          <a:prstGeom prst="rect">
            <a:avLst/>
          </a:prstGeom>
          <a:noFill/>
          <a:ln/>
        </p:spPr>
        <p:txBody>
          <a:bodyPr wrap="square" lIns="0" tIns="0" rIns="0" bIns="0" rtlCol="0" anchor="ctr"/>
          <a:lstStyle/>
          <a:p>
            <a:pPr marL="0" indent="0">
              <a:buNone/>
            </a:pPr>
            <a:r>
              <a:rPr lang="en-US" sz="1250" dirty="0">
                <a:solidFill>
                  <a:srgbClr val="02C39A"/>
                </a:solidFill>
                <a:latin typeface="Calibri" pitchFamily="34" charset="0"/>
                <a:ea typeface="Calibri" pitchFamily="34" charset="-122"/>
                <a:cs typeface="Calibri" pitchFamily="34" charset="-120"/>
              </a:rPr>
              <a:t>người muốn tiếp tục sử dụng</a:t>
            </a:r>
            <a:endParaRPr lang="en-US" sz="1250" dirty="0"/>
          </a:p>
        </p:txBody>
      </p:sp>
      <p:sp>
        <p:nvSpPr>
          <p:cNvPr id="21" name="Shape 19"/>
          <p:cNvSpPr/>
          <p:nvPr/>
        </p:nvSpPr>
        <p:spPr>
          <a:xfrm>
            <a:off x="6231636" y="4023360"/>
            <a:ext cx="5500116" cy="1188720"/>
          </a:xfrm>
          <a:prstGeom prst="roundRect">
            <a:avLst>
              <a:gd name="adj" fmla="val 7692"/>
            </a:avLst>
          </a:prstGeom>
          <a:solidFill>
            <a:srgbClr val="028090"/>
          </a:solidFill>
          <a:ln/>
        </p:spPr>
        <p:txBody>
          <a:bodyPr/>
          <a:lstStyle/>
          <a:p>
            <a:endParaRPr lang="en-US"/>
          </a:p>
        </p:txBody>
      </p:sp>
      <p:sp>
        <p:nvSpPr>
          <p:cNvPr id="22" name="Text 20"/>
          <p:cNvSpPr/>
          <p:nvPr/>
        </p:nvSpPr>
        <p:spPr>
          <a:xfrm>
            <a:off x="6505956" y="4160520"/>
            <a:ext cx="4951476" cy="457200"/>
          </a:xfrm>
          <a:prstGeom prst="rect">
            <a:avLst/>
          </a:prstGeom>
          <a:noFill/>
          <a:ln/>
        </p:spPr>
        <p:txBody>
          <a:bodyPr wrap="square" lIns="0" tIns="0" rIns="0" bIns="0" rtlCol="0" anchor="ctr"/>
          <a:lstStyle/>
          <a:p>
            <a:pPr marL="0" indent="0">
              <a:buNone/>
            </a:pPr>
            <a:r>
              <a:rPr lang="vi-VN" sz="2600" b="1" dirty="0">
                <a:solidFill>
                  <a:srgbClr val="FFFFFF"/>
                </a:solidFill>
                <a:latin typeface="Cambria" pitchFamily="34" charset="0"/>
                <a:ea typeface="Cambria" pitchFamily="34" charset="-122"/>
                <a:cs typeface="Cambria" pitchFamily="34" charset="-120"/>
              </a:rPr>
              <a:t>80</a:t>
            </a: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Text 21"/>
          <p:cNvSpPr/>
          <p:nvPr/>
        </p:nvSpPr>
        <p:spPr>
          <a:xfrm>
            <a:off x="6505956" y="4681728"/>
            <a:ext cx="4951476" cy="411480"/>
          </a:xfrm>
          <a:prstGeom prst="rect">
            <a:avLst/>
          </a:prstGeom>
          <a:noFill/>
          <a:ln/>
        </p:spPr>
        <p:txBody>
          <a:bodyPr wrap="square" lIns="0" tIns="0" rIns="0" bIns="0" rtlCol="0" anchor="ctr"/>
          <a:lstStyle/>
          <a:p>
            <a:pPr marL="0" indent="0">
              <a:buNone/>
            </a:pPr>
            <a:r>
              <a:rPr lang="en-US" sz="1250" dirty="0">
                <a:solidFill>
                  <a:srgbClr val="02C39A"/>
                </a:solidFill>
                <a:latin typeface="Calibri" pitchFamily="34" charset="0"/>
                <a:ea typeface="Calibri" pitchFamily="34" charset="-122"/>
                <a:cs typeface="Calibri" pitchFamily="34" charset="-120"/>
              </a:rPr>
              <a:t>đánh giá citation giúp tăng độ tin cậy</a:t>
            </a:r>
            <a:endParaRPr lang="en-US" sz="1250" dirty="0"/>
          </a:p>
        </p:txBody>
      </p:sp>
      <p:sp>
        <p:nvSpPr>
          <p:cNvPr id="24" name="Text 22"/>
          <p:cNvSpPr/>
          <p:nvPr/>
        </p:nvSpPr>
        <p:spPr>
          <a:xfrm>
            <a:off x="457200" y="5376672"/>
            <a:ext cx="11274552" cy="274320"/>
          </a:xfrm>
          <a:prstGeom prst="rect">
            <a:avLst/>
          </a:prstGeom>
          <a:noFill/>
          <a:ln/>
        </p:spPr>
        <p:txBody>
          <a:bodyPr wrap="square" lIns="0" tIns="0" rIns="0" bIns="0" rtlCol="0" anchor="ctr"/>
          <a:lstStyle/>
          <a:p>
            <a:pPr marL="0" indent="0">
              <a:buNone/>
            </a:pPr>
            <a:r>
              <a:rPr lang="en-US" sz="1100" i="1" dirty="0">
                <a:solidFill>
                  <a:srgbClr val="56736F"/>
                </a:solidFill>
                <a:latin typeface="Calibri" pitchFamily="34" charset="0"/>
                <a:ea typeface="Calibri" pitchFamily="34" charset="-122"/>
                <a:cs typeface="Calibri" pitchFamily="34" charset="-120"/>
              </a:rPr>
              <a:t>Không nên dùng lời khen chung chung — thay bằng quote thực tế từ validation.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363A"/>
        </a:solidFill>
        <a:effectLst/>
      </p:bgPr>
    </p:bg>
    <p:spTree>
      <p:nvGrpSpPr>
        <p:cNvPr id="1" name=""/>
        <p:cNvGrpSpPr/>
        <p:nvPr/>
      </p:nvGrpSpPr>
      <p:grpSpPr>
        <a:xfrm>
          <a:off x="0" y="0"/>
          <a:ext cx="0" cy="0"/>
          <a:chOff x="0" y="0"/>
          <a:chExt cx="0" cy="0"/>
        </a:xfrm>
      </p:grpSpPr>
      <p:sp>
        <p:nvSpPr>
          <p:cNvPr id="2" name="Shape 0"/>
          <p:cNvSpPr/>
          <p:nvPr/>
        </p:nvSpPr>
        <p:spPr>
          <a:xfrm>
            <a:off x="-914400" y="4572000"/>
            <a:ext cx="3108960" cy="3108960"/>
          </a:xfrm>
          <a:prstGeom prst="ellipse">
            <a:avLst/>
          </a:prstGeom>
          <a:solidFill>
            <a:srgbClr val="00A896">
              <a:alpha val="10000"/>
            </a:srgbClr>
          </a:solidFill>
          <a:ln/>
        </p:spPr>
        <p:txBody>
          <a:bodyPr/>
          <a:lstStyle/>
          <a:p>
            <a:endParaRPr lang="en-US"/>
          </a:p>
        </p:txBody>
      </p:sp>
      <p:sp>
        <p:nvSpPr>
          <p:cNvPr id="3" name="Shape 1"/>
          <p:cNvSpPr/>
          <p:nvPr/>
        </p:nvSpPr>
        <p:spPr>
          <a:xfrm>
            <a:off x="10881360" y="-731520"/>
            <a:ext cx="2377440" cy="2377440"/>
          </a:xfrm>
          <a:prstGeom prst="ellipse">
            <a:avLst/>
          </a:prstGeom>
          <a:solidFill>
            <a:srgbClr val="02C39A">
              <a:alpha val="10000"/>
            </a:srgbClr>
          </a:solidFill>
          <a:ln/>
        </p:spPr>
        <p:txBody>
          <a:bodyPr/>
          <a:lstStyle/>
          <a:p>
            <a:endParaRPr lang="en-US"/>
          </a:p>
        </p:txBody>
      </p:sp>
      <p:sp>
        <p:nvSpPr>
          <p:cNvPr id="4" name="Shape 2"/>
          <p:cNvSpPr/>
          <p:nvPr/>
        </p:nvSpPr>
        <p:spPr>
          <a:xfrm>
            <a:off x="457200" y="384048"/>
            <a:ext cx="502920" cy="502920"/>
          </a:xfrm>
          <a:prstGeom prst="ellipse">
            <a:avLst/>
          </a:prstGeom>
          <a:solidFill>
            <a:srgbClr val="02C39A"/>
          </a:solidFill>
          <a:ln/>
        </p:spPr>
        <p:txBody>
          <a:bodyPr/>
          <a:lstStyle/>
          <a:p>
            <a:endParaRPr lang="en-US"/>
          </a:p>
        </p:txBody>
      </p:sp>
      <p:sp>
        <p:nvSpPr>
          <p:cNvPr id="5" name="Text 3"/>
          <p:cNvSpPr/>
          <p:nvPr/>
        </p:nvSpPr>
        <p:spPr>
          <a:xfrm>
            <a:off x="457200" y="384048"/>
            <a:ext cx="502920" cy="502920"/>
          </a:xfrm>
          <a:prstGeom prst="rect">
            <a:avLst/>
          </a:prstGeom>
          <a:noFill/>
          <a:ln/>
        </p:spPr>
        <p:txBody>
          <a:bodyPr wrap="square" lIns="0" tIns="0" rIns="0" bIns="0" rtlCol="0" anchor="ctr"/>
          <a:lstStyle/>
          <a:p>
            <a:pPr marL="0" indent="0" algn="ctr">
              <a:buNone/>
            </a:pPr>
            <a:r>
              <a:rPr lang="en-US" sz="1600" b="1" dirty="0">
                <a:solidFill>
                  <a:srgbClr val="06363A"/>
                </a:solidFill>
                <a:latin typeface="Calibri" pitchFamily="34" charset="0"/>
                <a:ea typeface="Calibri" pitchFamily="34" charset="-122"/>
                <a:cs typeface="Calibri" pitchFamily="34" charset="-120"/>
              </a:rPr>
              <a:t>06</a:t>
            </a:r>
            <a:endParaRPr lang="en-US" sz="1600" dirty="0"/>
          </a:p>
        </p:txBody>
      </p:sp>
      <p:sp>
        <p:nvSpPr>
          <p:cNvPr id="6" name="Text 4"/>
          <p:cNvSpPr/>
          <p:nvPr/>
        </p:nvSpPr>
        <p:spPr>
          <a:xfrm>
            <a:off x="1143000" y="347472"/>
            <a:ext cx="10588752"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Nếu có thêm 1 tuần</a:t>
            </a:r>
            <a:endParaRPr lang="en-US" sz="3200" dirty="0"/>
          </a:p>
        </p:txBody>
      </p:sp>
      <p:sp>
        <p:nvSpPr>
          <p:cNvPr id="7" name="Text 5"/>
          <p:cNvSpPr/>
          <p:nvPr/>
        </p:nvSpPr>
        <p:spPr>
          <a:xfrm>
            <a:off x="1143000" y="960120"/>
            <a:ext cx="2743200" cy="274320"/>
          </a:xfrm>
          <a:prstGeom prst="rect">
            <a:avLst/>
          </a:prstGeom>
          <a:noFill/>
          <a:ln/>
        </p:spPr>
        <p:txBody>
          <a:bodyPr wrap="square" lIns="0" tIns="0" rIns="0" bIns="0"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ƯU TIÊN</a:t>
            </a:r>
            <a:endParaRPr lang="en-US" sz="1100" dirty="0"/>
          </a:p>
        </p:txBody>
      </p:sp>
      <p:sp>
        <p:nvSpPr>
          <p:cNvPr id="8" name="Shape 6"/>
          <p:cNvSpPr/>
          <p:nvPr/>
        </p:nvSpPr>
        <p:spPr>
          <a:xfrm>
            <a:off x="457200" y="1371600"/>
            <a:ext cx="3575304" cy="1737360"/>
          </a:xfrm>
          <a:prstGeom prst="roundRect">
            <a:avLst>
              <a:gd name="adj" fmla="val 5263"/>
            </a:avLst>
          </a:prstGeom>
          <a:solidFill>
            <a:srgbClr val="0A4247"/>
          </a:solidFill>
          <a:ln/>
        </p:spPr>
        <p:txBody>
          <a:bodyPr/>
          <a:lstStyle/>
          <a:p>
            <a:endParaRPr lang="en-US"/>
          </a:p>
        </p:txBody>
      </p:sp>
      <p:sp>
        <p:nvSpPr>
          <p:cNvPr id="9" name="Shape 7"/>
          <p:cNvSpPr/>
          <p:nvPr/>
        </p:nvSpPr>
        <p:spPr>
          <a:xfrm>
            <a:off x="713232" y="1627632"/>
            <a:ext cx="457200" cy="457200"/>
          </a:xfrm>
          <a:prstGeom prst="ellipse">
            <a:avLst/>
          </a:prstGeom>
          <a:solidFill>
            <a:srgbClr val="02C39A"/>
          </a:solidFill>
          <a:ln/>
        </p:spPr>
        <p:txBody>
          <a:bodyPr/>
          <a:lstStyle/>
          <a:p>
            <a:endParaRPr lang="en-US"/>
          </a:p>
        </p:txBody>
      </p:sp>
      <p:sp>
        <p:nvSpPr>
          <p:cNvPr id="10" name="Text 8"/>
          <p:cNvSpPr/>
          <p:nvPr/>
        </p:nvSpPr>
        <p:spPr>
          <a:xfrm>
            <a:off x="713232" y="1627632"/>
            <a:ext cx="457200" cy="457200"/>
          </a:xfrm>
          <a:prstGeom prst="rect">
            <a:avLst/>
          </a:prstGeom>
          <a:noFill/>
          <a:ln/>
        </p:spPr>
        <p:txBody>
          <a:bodyPr wrap="square" lIns="0" tIns="0" rIns="0" bIns="0" rtlCol="0" anchor="ctr"/>
          <a:lstStyle/>
          <a:p>
            <a:pPr marL="0" indent="0" algn="ctr">
              <a:buNone/>
            </a:pPr>
            <a:r>
              <a:rPr lang="en-US" sz="1800" b="1" dirty="0">
                <a:solidFill>
                  <a:srgbClr val="06363A"/>
                </a:solidFill>
                <a:latin typeface="Cambria" pitchFamily="34" charset="0"/>
                <a:ea typeface="Cambria" pitchFamily="34" charset="-122"/>
                <a:cs typeface="Cambria" pitchFamily="34" charset="-120"/>
              </a:rPr>
              <a:t>1</a:t>
            </a:r>
            <a:endParaRPr lang="en-US" sz="1800" dirty="0"/>
          </a:p>
        </p:txBody>
      </p:sp>
      <p:sp>
        <p:nvSpPr>
          <p:cNvPr id="11" name="Text 9"/>
          <p:cNvSpPr/>
          <p:nvPr/>
        </p:nvSpPr>
        <p:spPr>
          <a:xfrm>
            <a:off x="713232" y="2240280"/>
            <a:ext cx="3063240" cy="5029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Cải thiện citation</a:t>
            </a:r>
            <a:endParaRPr lang="en-US" sz="1450" dirty="0"/>
          </a:p>
        </p:txBody>
      </p:sp>
      <p:sp>
        <p:nvSpPr>
          <p:cNvPr id="12" name="Text 10"/>
          <p:cNvSpPr/>
          <p:nvPr/>
        </p:nvSpPr>
        <p:spPr>
          <a:xfrm>
            <a:off x="713232" y="2670048"/>
            <a:ext cx="3063240" cy="411480"/>
          </a:xfrm>
          <a:prstGeom prst="rect">
            <a:avLst/>
          </a:prstGeom>
          <a:noFill/>
          <a:ln/>
        </p:spPr>
        <p:txBody>
          <a:bodyPr wrap="square" lIns="0" tIns="0" rIns="0" bIns="0" rtlCol="0" anchor="ctr"/>
          <a:lstStyle/>
          <a:p>
            <a:pPr marL="0" indent="0">
              <a:buNone/>
            </a:pPr>
            <a:r>
              <a:rPr lang="en-US" sz="1150" dirty="0">
                <a:solidFill>
                  <a:srgbClr val="02C39A"/>
                </a:solidFill>
                <a:latin typeface="Calibri" pitchFamily="34" charset="0"/>
                <a:ea typeface="Calibri" pitchFamily="34" charset="-122"/>
                <a:cs typeface="Calibri" pitchFamily="34" charset="-120"/>
              </a:rPr>
              <a:t>Xử lý các case fail trong Golden Set.</a:t>
            </a:r>
            <a:endParaRPr lang="en-US" sz="1150" dirty="0"/>
          </a:p>
        </p:txBody>
      </p:sp>
      <p:sp>
        <p:nvSpPr>
          <p:cNvPr id="13" name="Shape 11"/>
          <p:cNvSpPr/>
          <p:nvPr/>
        </p:nvSpPr>
        <p:spPr>
          <a:xfrm>
            <a:off x="4306824" y="1371600"/>
            <a:ext cx="3575304" cy="1737360"/>
          </a:xfrm>
          <a:prstGeom prst="roundRect">
            <a:avLst>
              <a:gd name="adj" fmla="val 5263"/>
            </a:avLst>
          </a:prstGeom>
          <a:solidFill>
            <a:srgbClr val="0A4247"/>
          </a:solidFill>
          <a:ln/>
        </p:spPr>
        <p:txBody>
          <a:bodyPr/>
          <a:lstStyle/>
          <a:p>
            <a:endParaRPr lang="en-US"/>
          </a:p>
        </p:txBody>
      </p:sp>
      <p:sp>
        <p:nvSpPr>
          <p:cNvPr id="14" name="Shape 12"/>
          <p:cNvSpPr/>
          <p:nvPr/>
        </p:nvSpPr>
        <p:spPr>
          <a:xfrm>
            <a:off x="4562856" y="1627632"/>
            <a:ext cx="457200" cy="457200"/>
          </a:xfrm>
          <a:prstGeom prst="ellipse">
            <a:avLst/>
          </a:prstGeom>
          <a:solidFill>
            <a:srgbClr val="02C39A"/>
          </a:solidFill>
          <a:ln/>
        </p:spPr>
        <p:txBody>
          <a:bodyPr/>
          <a:lstStyle/>
          <a:p>
            <a:endParaRPr lang="en-US"/>
          </a:p>
        </p:txBody>
      </p:sp>
      <p:sp>
        <p:nvSpPr>
          <p:cNvPr id="15" name="Text 13"/>
          <p:cNvSpPr/>
          <p:nvPr/>
        </p:nvSpPr>
        <p:spPr>
          <a:xfrm>
            <a:off x="4562856" y="1627632"/>
            <a:ext cx="457200" cy="457200"/>
          </a:xfrm>
          <a:prstGeom prst="rect">
            <a:avLst/>
          </a:prstGeom>
          <a:noFill/>
          <a:ln/>
        </p:spPr>
        <p:txBody>
          <a:bodyPr wrap="square" lIns="0" tIns="0" rIns="0" bIns="0" rtlCol="0" anchor="ctr"/>
          <a:lstStyle/>
          <a:p>
            <a:pPr marL="0" indent="0" algn="ctr">
              <a:buNone/>
            </a:pPr>
            <a:r>
              <a:rPr lang="en-US" sz="1800" b="1" dirty="0">
                <a:solidFill>
                  <a:srgbClr val="06363A"/>
                </a:solidFill>
                <a:latin typeface="Cambria" pitchFamily="34" charset="0"/>
                <a:ea typeface="Cambria" pitchFamily="34" charset="-122"/>
                <a:cs typeface="Cambria" pitchFamily="34" charset="-120"/>
              </a:rPr>
              <a:t>2</a:t>
            </a:r>
            <a:endParaRPr lang="en-US" sz="1800" dirty="0"/>
          </a:p>
        </p:txBody>
      </p:sp>
      <p:sp>
        <p:nvSpPr>
          <p:cNvPr id="16" name="Text 14"/>
          <p:cNvSpPr/>
          <p:nvPr/>
        </p:nvSpPr>
        <p:spPr>
          <a:xfrm>
            <a:off x="4562856" y="2240280"/>
            <a:ext cx="3063240" cy="5029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Validation nhiều người hơn</a:t>
            </a:r>
            <a:endParaRPr lang="en-US" sz="1450" dirty="0"/>
          </a:p>
        </p:txBody>
      </p:sp>
      <p:sp>
        <p:nvSpPr>
          <p:cNvPr id="17" name="Text 15"/>
          <p:cNvSpPr/>
          <p:nvPr/>
        </p:nvSpPr>
        <p:spPr>
          <a:xfrm>
            <a:off x="4562856" y="2670048"/>
            <a:ext cx="3063240" cy="411480"/>
          </a:xfrm>
          <a:prstGeom prst="rect">
            <a:avLst/>
          </a:prstGeom>
          <a:noFill/>
          <a:ln/>
        </p:spPr>
        <p:txBody>
          <a:bodyPr wrap="square" lIns="0" tIns="0" rIns="0" bIns="0" rtlCol="0" anchor="ctr"/>
          <a:lstStyle/>
          <a:p>
            <a:pPr marL="0" indent="0">
              <a:buNone/>
            </a:pPr>
            <a:r>
              <a:rPr lang="en-US" sz="1150" dirty="0" err="1">
                <a:solidFill>
                  <a:srgbClr val="02C39A"/>
                </a:solidFill>
                <a:latin typeface="Calibri" pitchFamily="34" charset="0"/>
                <a:ea typeface="Calibri" pitchFamily="34" charset="-122"/>
                <a:cs typeface="Calibri" pitchFamily="34" charset="-120"/>
              </a:rPr>
              <a:t>Từ</a:t>
            </a:r>
            <a:r>
              <a:rPr lang="en-US" sz="1150" dirty="0">
                <a:solidFill>
                  <a:srgbClr val="02C39A"/>
                </a:solidFill>
                <a:latin typeface="Calibri" pitchFamily="34" charset="0"/>
                <a:ea typeface="Calibri" pitchFamily="34" charset="-122"/>
                <a:cs typeface="Calibri" pitchFamily="34" charset="-120"/>
              </a:rPr>
              <a:t> 5 người → 25 người</a:t>
            </a:r>
            <a:endParaRPr lang="en-US" sz="1150" dirty="0"/>
          </a:p>
        </p:txBody>
      </p:sp>
      <p:sp>
        <p:nvSpPr>
          <p:cNvPr id="18" name="Shape 16"/>
          <p:cNvSpPr/>
          <p:nvPr/>
        </p:nvSpPr>
        <p:spPr>
          <a:xfrm>
            <a:off x="8156448" y="1371600"/>
            <a:ext cx="3575304" cy="1737360"/>
          </a:xfrm>
          <a:prstGeom prst="roundRect">
            <a:avLst>
              <a:gd name="adj" fmla="val 5263"/>
            </a:avLst>
          </a:prstGeom>
          <a:solidFill>
            <a:srgbClr val="0A4247"/>
          </a:solidFill>
          <a:ln/>
        </p:spPr>
        <p:txBody>
          <a:bodyPr/>
          <a:lstStyle/>
          <a:p>
            <a:endParaRPr lang="en-US"/>
          </a:p>
        </p:txBody>
      </p:sp>
      <p:sp>
        <p:nvSpPr>
          <p:cNvPr id="19" name="Shape 17"/>
          <p:cNvSpPr/>
          <p:nvPr/>
        </p:nvSpPr>
        <p:spPr>
          <a:xfrm>
            <a:off x="8412480" y="1627632"/>
            <a:ext cx="457200" cy="457200"/>
          </a:xfrm>
          <a:prstGeom prst="ellipse">
            <a:avLst/>
          </a:prstGeom>
          <a:solidFill>
            <a:srgbClr val="02C39A"/>
          </a:solidFill>
          <a:ln/>
        </p:spPr>
        <p:txBody>
          <a:bodyPr/>
          <a:lstStyle/>
          <a:p>
            <a:endParaRPr lang="en-US"/>
          </a:p>
        </p:txBody>
      </p:sp>
      <p:sp>
        <p:nvSpPr>
          <p:cNvPr id="20" name="Text 18"/>
          <p:cNvSpPr/>
          <p:nvPr/>
        </p:nvSpPr>
        <p:spPr>
          <a:xfrm>
            <a:off x="8412480" y="1627632"/>
            <a:ext cx="457200" cy="457200"/>
          </a:xfrm>
          <a:prstGeom prst="rect">
            <a:avLst/>
          </a:prstGeom>
          <a:noFill/>
          <a:ln/>
        </p:spPr>
        <p:txBody>
          <a:bodyPr wrap="square" lIns="0" tIns="0" rIns="0" bIns="0" rtlCol="0" anchor="ctr"/>
          <a:lstStyle/>
          <a:p>
            <a:pPr marL="0" indent="0" algn="ctr">
              <a:buNone/>
            </a:pPr>
            <a:r>
              <a:rPr lang="en-US" sz="1800" b="1" dirty="0">
                <a:solidFill>
                  <a:srgbClr val="06363A"/>
                </a:solidFill>
                <a:latin typeface="Cambria" pitchFamily="34" charset="0"/>
                <a:ea typeface="Cambria" pitchFamily="34" charset="-122"/>
                <a:cs typeface="Cambria" pitchFamily="34" charset="-120"/>
              </a:rPr>
              <a:t>3</a:t>
            </a:r>
            <a:endParaRPr lang="en-US" sz="1800" dirty="0"/>
          </a:p>
        </p:txBody>
      </p:sp>
      <p:sp>
        <p:nvSpPr>
          <p:cNvPr id="21" name="Text 19"/>
          <p:cNvSpPr/>
          <p:nvPr/>
        </p:nvSpPr>
        <p:spPr>
          <a:xfrm>
            <a:off x="8412480" y="2240280"/>
            <a:ext cx="3063240" cy="5029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Cải thiện retrieval</a:t>
            </a:r>
            <a:endParaRPr lang="en-US" sz="1450" dirty="0"/>
          </a:p>
        </p:txBody>
      </p:sp>
      <p:sp>
        <p:nvSpPr>
          <p:cNvPr id="22" name="Text 20"/>
          <p:cNvSpPr/>
          <p:nvPr/>
        </p:nvSpPr>
        <p:spPr>
          <a:xfrm>
            <a:off x="8412480" y="2670048"/>
            <a:ext cx="3063240" cy="411480"/>
          </a:xfrm>
          <a:prstGeom prst="rect">
            <a:avLst/>
          </a:prstGeom>
          <a:noFill/>
          <a:ln/>
        </p:spPr>
        <p:txBody>
          <a:bodyPr wrap="square" lIns="0" tIns="0" rIns="0" bIns="0" rtlCol="0" anchor="ctr"/>
          <a:lstStyle/>
          <a:p>
            <a:pPr marL="0" indent="0">
              <a:buNone/>
            </a:pPr>
            <a:r>
              <a:rPr lang="en-US" sz="1150" dirty="0">
                <a:solidFill>
                  <a:srgbClr val="02C39A"/>
                </a:solidFill>
                <a:latin typeface="Calibri" pitchFamily="34" charset="0"/>
                <a:ea typeface="Calibri" pitchFamily="34" charset="-122"/>
                <a:cs typeface="Calibri" pitchFamily="34" charset="-120"/>
              </a:rPr>
              <a:t>Giảm các trường hợp "không tìm thấy"</a:t>
            </a:r>
            <a:endParaRPr lang="en-US" sz="1150" dirty="0"/>
          </a:p>
        </p:txBody>
      </p:sp>
      <p:sp>
        <p:nvSpPr>
          <p:cNvPr id="23" name="Shape 21"/>
          <p:cNvSpPr/>
          <p:nvPr/>
        </p:nvSpPr>
        <p:spPr>
          <a:xfrm>
            <a:off x="457200" y="3474720"/>
            <a:ext cx="11274552" cy="2148840"/>
          </a:xfrm>
          <a:prstGeom prst="roundRect">
            <a:avLst>
              <a:gd name="adj" fmla="val 5106"/>
            </a:avLst>
          </a:prstGeom>
          <a:solidFill>
            <a:srgbClr val="00A896"/>
          </a:solidFill>
          <a:ln/>
        </p:spPr>
        <p:txBody>
          <a:bodyPr/>
          <a:lstStyle/>
          <a:p>
            <a:endParaRPr lang="en-US"/>
          </a:p>
        </p:txBody>
      </p:sp>
      <p:sp>
        <p:nvSpPr>
          <p:cNvPr id="24" name="Text 22"/>
          <p:cNvSpPr/>
          <p:nvPr/>
        </p:nvSpPr>
        <p:spPr>
          <a:xfrm>
            <a:off x="822960" y="3730752"/>
            <a:ext cx="4572000" cy="274320"/>
          </a:xfrm>
          <a:prstGeom prst="rect">
            <a:avLst/>
          </a:prstGeom>
          <a:noFill/>
          <a:ln/>
        </p:spPr>
        <p:txBody>
          <a:bodyPr wrap="square" lIns="0" tIns="0" rIns="0" bIns="0" rtlCol="0" anchor="ctr"/>
          <a:lstStyle/>
          <a:p>
            <a:pPr marL="0" indent="0">
              <a:buNone/>
            </a:pPr>
            <a:r>
              <a:rPr lang="en-US" sz="1100" b="1" kern="0" spc="150" dirty="0">
                <a:solidFill>
                  <a:srgbClr val="06363A"/>
                </a:solidFill>
                <a:latin typeface="Calibri" pitchFamily="34" charset="0"/>
                <a:ea typeface="Calibri" pitchFamily="34" charset="-122"/>
                <a:cs typeface="Calibri" pitchFamily="34" charset="-120"/>
              </a:rPr>
              <a:t>BÀI HỌC LỚN NHẤT</a:t>
            </a:r>
            <a:endParaRPr lang="en-US" sz="1100" dirty="0"/>
          </a:p>
        </p:txBody>
      </p:sp>
      <p:sp>
        <p:nvSpPr>
          <p:cNvPr id="25" name="Text 23"/>
          <p:cNvSpPr/>
          <p:nvPr/>
        </p:nvSpPr>
        <p:spPr>
          <a:xfrm>
            <a:off x="822960" y="4069080"/>
            <a:ext cx="10543032" cy="1325880"/>
          </a:xfrm>
          <a:prstGeom prst="rect">
            <a:avLst/>
          </a:prstGeom>
          <a:noFill/>
          <a:ln/>
        </p:spPr>
        <p:txBody>
          <a:bodyPr wrap="square" lIns="0" tIns="0" rIns="0" bIns="0" rtlCol="0" anchor="t"/>
          <a:lstStyle/>
          <a:p>
            <a:pPr marL="0" indent="0">
              <a:lnSpc>
                <a:spcPct val="120000"/>
              </a:lnSpc>
              <a:buNone/>
            </a:pPr>
            <a:r>
              <a:rPr lang="en-US" sz="1800" b="1" i="1" dirty="0">
                <a:solidFill>
                  <a:srgbClr val="FFFFFF"/>
                </a:solidFill>
                <a:latin typeface="Cambria" pitchFamily="34" charset="0"/>
                <a:ea typeface="Cambria" pitchFamily="34" charset="-122"/>
                <a:cs typeface="Cambria" pitchFamily="34" charset="-120"/>
              </a:rPr>
              <a:t>Grounding và citation quan trọng hơn việc trả lời được nhiều câu hỏi. Một câu trả lời đúng nhưng không chứng minh được nguồn vẫn chưa đủ đáng tin để hỗ trợ học tập.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623</Words>
  <Application>Microsoft Office PowerPoint</Application>
  <PresentationFormat>Widescreen</PresentationFormat>
  <Paragraphs>124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Hải Píp</cp:lastModifiedBy>
  <cp:revision>3</cp:revision>
  <dcterms:created xsi:type="dcterms:W3CDTF">2026-07-31T02:13:50Z</dcterms:created>
  <dcterms:modified xsi:type="dcterms:W3CDTF">2026-07-31T02:42:40Z</dcterms:modified>
</cp:coreProperties>
</file>